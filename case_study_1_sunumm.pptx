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8" r:id="rId5"/>
    <p:sldId id="264" r:id="rId6"/>
    <p:sldId id="265" r:id="rId7"/>
    <p:sldId id="266" r:id="rId8"/>
    <p:sldId id="271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6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rak\Desktop\Case%20study_1\kredi_kart_musteriler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rak\Desktop\Case%20study_1\kredi_kart_musteriler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urak\Desktop\Case%20study_1\kredi_kart_musterileri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Burak\Desktop\Case%20study_1\kredi_kart_musterileri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[kredi_kart_musterileri.xlsx]Pivot_Analiz!PivotTable2</c:name>
    <c:fmtId val="11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Pivot_Analiz!$B$1:$B$2</c:f>
              <c:strCache>
                <c:ptCount val="1"/>
                <c:pt idx="0">
                  <c:v>$120K +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Pivot_Analiz!$A$3:$A$8</c:f>
              <c:strCache>
                <c:ptCount val="5"/>
                <c:pt idx="0">
                  <c:v>1- VIP</c:v>
                </c:pt>
                <c:pt idx="1">
                  <c:v>2- Potansiyel VIP</c:v>
                </c:pt>
                <c:pt idx="2">
                  <c:v>3- Düzenli</c:v>
                </c:pt>
                <c:pt idx="3">
                  <c:v>4- Risk Altında</c:v>
                </c:pt>
                <c:pt idx="4">
                  <c:v>5- Pasif</c:v>
                </c:pt>
              </c:strCache>
            </c:strRef>
          </c:cat>
          <c:val>
            <c:numRef>
              <c:f>Pivot_Analiz!$B$3:$B$8</c:f>
              <c:numCache>
                <c:formatCode>General</c:formatCode>
                <c:ptCount val="5"/>
                <c:pt idx="0">
                  <c:v>23</c:v>
                </c:pt>
                <c:pt idx="1">
                  <c:v>22</c:v>
                </c:pt>
                <c:pt idx="2">
                  <c:v>109</c:v>
                </c:pt>
                <c:pt idx="3">
                  <c:v>44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7F-4047-B71E-723030823C2B}"/>
            </c:ext>
          </c:extLst>
        </c:ser>
        <c:ser>
          <c:idx val="1"/>
          <c:order val="1"/>
          <c:tx>
            <c:strRef>
              <c:f>Pivot_Analiz!$C$1:$C$2</c:f>
              <c:strCache>
                <c:ptCount val="1"/>
                <c:pt idx="0">
                  <c:v>$40K - $60K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Pivot_Analiz!$A$3:$A$8</c:f>
              <c:strCache>
                <c:ptCount val="5"/>
                <c:pt idx="0">
                  <c:v>1- VIP</c:v>
                </c:pt>
                <c:pt idx="1">
                  <c:v>2- Potansiyel VIP</c:v>
                </c:pt>
                <c:pt idx="2">
                  <c:v>3- Düzenli</c:v>
                </c:pt>
                <c:pt idx="3">
                  <c:v>4- Risk Altında</c:v>
                </c:pt>
                <c:pt idx="4">
                  <c:v>5- Pasif</c:v>
                </c:pt>
              </c:strCache>
            </c:strRef>
          </c:cat>
          <c:val>
            <c:numRef>
              <c:f>Pivot_Analiz!$C$3:$C$8</c:f>
              <c:numCache>
                <c:formatCode>General</c:formatCode>
                <c:ptCount val="5"/>
                <c:pt idx="0">
                  <c:v>31</c:v>
                </c:pt>
                <c:pt idx="1">
                  <c:v>14</c:v>
                </c:pt>
                <c:pt idx="2">
                  <c:v>119</c:v>
                </c:pt>
                <c:pt idx="3">
                  <c:v>55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7F-4047-B71E-723030823C2B}"/>
            </c:ext>
          </c:extLst>
        </c:ser>
        <c:ser>
          <c:idx val="2"/>
          <c:order val="2"/>
          <c:tx>
            <c:strRef>
              <c:f>Pivot_Analiz!$D$1:$D$2</c:f>
              <c:strCache>
                <c:ptCount val="1"/>
                <c:pt idx="0">
                  <c:v>$60K - $80K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hade val="51000"/>
                    <a:satMod val="130000"/>
                  </a:schemeClr>
                </a:gs>
                <a:gs pos="80000">
                  <a:schemeClr val="accent3">
                    <a:shade val="93000"/>
                    <a:satMod val="130000"/>
                  </a:schemeClr>
                </a:gs>
                <a:gs pos="100000">
                  <a:schemeClr val="accent3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Pivot_Analiz!$A$3:$A$8</c:f>
              <c:strCache>
                <c:ptCount val="5"/>
                <c:pt idx="0">
                  <c:v>1- VIP</c:v>
                </c:pt>
                <c:pt idx="1">
                  <c:v>2- Potansiyel VIP</c:v>
                </c:pt>
                <c:pt idx="2">
                  <c:v>3- Düzenli</c:v>
                </c:pt>
                <c:pt idx="3">
                  <c:v>4- Risk Altında</c:v>
                </c:pt>
                <c:pt idx="4">
                  <c:v>5- Pasif</c:v>
                </c:pt>
              </c:strCache>
            </c:strRef>
          </c:cat>
          <c:val>
            <c:numRef>
              <c:f>Pivot_Analiz!$D$3:$D$8</c:f>
              <c:numCache>
                <c:formatCode>General</c:formatCode>
                <c:ptCount val="5"/>
                <c:pt idx="0">
                  <c:v>50</c:v>
                </c:pt>
                <c:pt idx="1">
                  <c:v>32</c:v>
                </c:pt>
                <c:pt idx="2">
                  <c:v>206</c:v>
                </c:pt>
                <c:pt idx="3">
                  <c:v>109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7F-4047-B71E-723030823C2B}"/>
            </c:ext>
          </c:extLst>
        </c:ser>
        <c:ser>
          <c:idx val="3"/>
          <c:order val="3"/>
          <c:tx>
            <c:strRef>
              <c:f>Pivot_Analiz!$E$1:$E$2</c:f>
              <c:strCache>
                <c:ptCount val="1"/>
                <c:pt idx="0">
                  <c:v>$80K - $120K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hade val="51000"/>
                    <a:satMod val="130000"/>
                  </a:schemeClr>
                </a:gs>
                <a:gs pos="80000">
                  <a:schemeClr val="accent4">
                    <a:shade val="93000"/>
                    <a:satMod val="130000"/>
                  </a:schemeClr>
                </a:gs>
                <a:gs pos="100000">
                  <a:schemeClr val="accent4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Pivot_Analiz!$A$3:$A$8</c:f>
              <c:strCache>
                <c:ptCount val="5"/>
                <c:pt idx="0">
                  <c:v>1- VIP</c:v>
                </c:pt>
                <c:pt idx="1">
                  <c:v>2- Potansiyel VIP</c:v>
                </c:pt>
                <c:pt idx="2">
                  <c:v>3- Düzenli</c:v>
                </c:pt>
                <c:pt idx="3">
                  <c:v>4- Risk Altında</c:v>
                </c:pt>
                <c:pt idx="4">
                  <c:v>5- Pasif</c:v>
                </c:pt>
              </c:strCache>
            </c:strRef>
          </c:cat>
          <c:val>
            <c:numRef>
              <c:f>Pivot_Analiz!$E$3:$E$8</c:f>
              <c:numCache>
                <c:formatCode>General</c:formatCode>
                <c:ptCount val="5"/>
                <c:pt idx="0">
                  <c:v>54</c:v>
                </c:pt>
                <c:pt idx="1">
                  <c:v>43</c:v>
                </c:pt>
                <c:pt idx="2">
                  <c:v>242</c:v>
                </c:pt>
                <c:pt idx="3">
                  <c:v>110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7F-4047-B71E-723030823C2B}"/>
            </c:ext>
          </c:extLst>
        </c:ser>
        <c:ser>
          <c:idx val="4"/>
          <c:order val="4"/>
          <c:tx>
            <c:strRef>
              <c:f>Pivot_Analiz!$F$1:$F$2</c:f>
              <c:strCache>
                <c:ptCount val="1"/>
                <c:pt idx="0">
                  <c:v>Less than $40K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Pivot_Analiz!$A$3:$A$8</c:f>
              <c:strCache>
                <c:ptCount val="5"/>
                <c:pt idx="0">
                  <c:v>1- VIP</c:v>
                </c:pt>
                <c:pt idx="1">
                  <c:v>2- Potansiyel VIP</c:v>
                </c:pt>
                <c:pt idx="2">
                  <c:v>3- Düzenli</c:v>
                </c:pt>
                <c:pt idx="3">
                  <c:v>4- Risk Altında</c:v>
                </c:pt>
                <c:pt idx="4">
                  <c:v>5- Pasif</c:v>
                </c:pt>
              </c:strCache>
            </c:strRef>
          </c:cat>
          <c:val>
            <c:numRef>
              <c:f>Pivot_Analiz!$F$3:$F$8</c:f>
              <c:numCache>
                <c:formatCode>General</c:formatCode>
                <c:ptCount val="5"/>
                <c:pt idx="0">
                  <c:v>16</c:v>
                </c:pt>
                <c:pt idx="1">
                  <c:v>7</c:v>
                </c:pt>
                <c:pt idx="2">
                  <c:v>42</c:v>
                </c:pt>
                <c:pt idx="3">
                  <c:v>28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7F-4047-B71E-723030823C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7133744"/>
        <c:axId val="1665951888"/>
      </c:barChart>
      <c:catAx>
        <c:axId val="1557133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65951888"/>
        <c:crosses val="autoZero"/>
        <c:auto val="1"/>
        <c:lblAlgn val="ctr"/>
        <c:lblOffset val="100"/>
        <c:noMultiLvlLbl val="0"/>
      </c:catAx>
      <c:valAx>
        <c:axId val="166595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557133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tr-T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[kredi_kart_musterileri.xlsx]Pivot_Analiz!PivotTable4</c:name>
    <c:fmtId val="9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Pivot_Analiz!$B$14:$B$15</c:f>
              <c:strCache>
                <c:ptCount val="1"/>
                <c:pt idx="0">
                  <c:v>Attrited Customer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Pivot_Analiz!$A$16:$A$20</c:f>
              <c:strCache>
                <c:ptCount val="4"/>
                <c:pt idx="0">
                  <c:v>25-35</c:v>
                </c:pt>
                <c:pt idx="1">
                  <c:v>36-45</c:v>
                </c:pt>
                <c:pt idx="2">
                  <c:v>46-55</c:v>
                </c:pt>
                <c:pt idx="3">
                  <c:v>56+</c:v>
                </c:pt>
              </c:strCache>
            </c:strRef>
          </c:cat>
          <c:val>
            <c:numRef>
              <c:f>Pivot_Analiz!$B$16:$B$20</c:f>
              <c:numCache>
                <c:formatCode>General</c:formatCode>
                <c:ptCount val="4"/>
                <c:pt idx="0">
                  <c:v>18</c:v>
                </c:pt>
                <c:pt idx="1">
                  <c:v>75</c:v>
                </c:pt>
                <c:pt idx="2">
                  <c:v>71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31-4472-9074-9906FB471B3E}"/>
            </c:ext>
          </c:extLst>
        </c:ser>
        <c:ser>
          <c:idx val="1"/>
          <c:order val="1"/>
          <c:tx>
            <c:strRef>
              <c:f>Pivot_Analiz!$C$14:$C$15</c:f>
              <c:strCache>
                <c:ptCount val="1"/>
                <c:pt idx="0">
                  <c:v>Existing Customer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Pivot_Analiz!$A$16:$A$20</c:f>
              <c:strCache>
                <c:ptCount val="4"/>
                <c:pt idx="0">
                  <c:v>25-35</c:v>
                </c:pt>
                <c:pt idx="1">
                  <c:v>36-45</c:v>
                </c:pt>
                <c:pt idx="2">
                  <c:v>46-55</c:v>
                </c:pt>
                <c:pt idx="3">
                  <c:v>56+</c:v>
                </c:pt>
              </c:strCache>
            </c:strRef>
          </c:cat>
          <c:val>
            <c:numRef>
              <c:f>Pivot_Analiz!$C$16:$C$20</c:f>
              <c:numCache>
                <c:formatCode>General</c:formatCode>
                <c:ptCount val="4"/>
                <c:pt idx="0">
                  <c:v>111</c:v>
                </c:pt>
                <c:pt idx="1">
                  <c:v>490</c:v>
                </c:pt>
                <c:pt idx="2">
                  <c:v>490</c:v>
                </c:pt>
                <c:pt idx="3">
                  <c:v>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31-4472-9074-9906FB471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09941792"/>
        <c:axId val="1665992688"/>
      </c:barChart>
      <c:catAx>
        <c:axId val="15099417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65992688"/>
        <c:crosses val="autoZero"/>
        <c:auto val="1"/>
        <c:lblAlgn val="ctr"/>
        <c:lblOffset val="100"/>
        <c:noMultiLvlLbl val="0"/>
      </c:catAx>
      <c:valAx>
        <c:axId val="16659926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509941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tr-T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[kredi_kart_musterileri.xlsx]Pivot_Analiz!PivotTable5</c:name>
    <c:fmtId val="20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tr-T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Pivot_Analiz!$B$26</c:f>
              <c:strCache>
                <c:ptCount val="1"/>
                <c:pt idx="0">
                  <c:v>Sum of Total_Trans_Amt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Pivot_Analiz!$A$27:$A$31</c:f>
              <c:strCache>
                <c:ptCount val="4"/>
                <c:pt idx="0">
                  <c:v>Blue</c:v>
                </c:pt>
                <c:pt idx="1">
                  <c:v>Gold</c:v>
                </c:pt>
                <c:pt idx="2">
                  <c:v>Platinum</c:v>
                </c:pt>
                <c:pt idx="3">
                  <c:v>Silver</c:v>
                </c:pt>
              </c:strCache>
            </c:strRef>
          </c:cat>
          <c:val>
            <c:numRef>
              <c:f>Pivot_Analiz!$B$27:$B$31</c:f>
              <c:numCache>
                <c:formatCode>General</c:formatCode>
                <c:ptCount val="4"/>
                <c:pt idx="0">
                  <c:v>5582392</c:v>
                </c:pt>
                <c:pt idx="1">
                  <c:v>247582</c:v>
                </c:pt>
                <c:pt idx="2">
                  <c:v>31176</c:v>
                </c:pt>
                <c:pt idx="3">
                  <c:v>792049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7-43D1-B281-B552230BE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5374080"/>
        <c:axId val="1665968208"/>
      </c:barChart>
      <c:lineChart>
        <c:grouping val="standard"/>
        <c:varyColors val="0"/>
        <c:ser>
          <c:idx val="1"/>
          <c:order val="1"/>
          <c:tx>
            <c:strRef>
              <c:f>Pivot_Analiz!$C$26</c:f>
              <c:strCache>
                <c:ptCount val="1"/>
                <c:pt idx="0">
                  <c:v>Sum of Total_Trans_Amt2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Pivot_Analiz!$A$27:$A$31</c:f>
              <c:strCache>
                <c:ptCount val="4"/>
                <c:pt idx="0">
                  <c:v>Blue</c:v>
                </c:pt>
                <c:pt idx="1">
                  <c:v>Gold</c:v>
                </c:pt>
                <c:pt idx="2">
                  <c:v>Platinum</c:v>
                </c:pt>
                <c:pt idx="3">
                  <c:v>Silver</c:v>
                </c:pt>
              </c:strCache>
            </c:strRef>
          </c:cat>
          <c:val>
            <c:numRef>
              <c:f>Pivot_Analiz!$C$27:$C$31</c:f>
              <c:numCache>
                <c:formatCode>0.00%</c:formatCode>
                <c:ptCount val="4"/>
                <c:pt idx="0">
                  <c:v>0.83905381456349049</c:v>
                </c:pt>
                <c:pt idx="1">
                  <c:v>3.7212474780928692E-2</c:v>
                </c:pt>
                <c:pt idx="2">
                  <c:v>4.6858661525079892E-3</c:v>
                </c:pt>
                <c:pt idx="3">
                  <c:v>0.11904784450307289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B7-43D1-B281-B552230BE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5088896"/>
        <c:axId val="1665976368"/>
      </c:lineChart>
      <c:catAx>
        <c:axId val="167537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65968208"/>
        <c:crosses val="autoZero"/>
        <c:auto val="1"/>
        <c:lblAlgn val="ctr"/>
        <c:lblOffset val="100"/>
        <c:noMultiLvlLbl val="0"/>
      </c:catAx>
      <c:valAx>
        <c:axId val="166596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75374080"/>
        <c:crosses val="autoZero"/>
        <c:crossBetween val="between"/>
      </c:valAx>
      <c:valAx>
        <c:axId val="1665976368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675088896"/>
        <c:crosses val="max"/>
        <c:crossBetween val="between"/>
      </c:valAx>
      <c:catAx>
        <c:axId val="16750888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59763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tr-T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Pivot_Analiz!$K$174:$K$178</cx:f>
        <cx:lvl ptCount="5">
          <cx:pt idx="0">$120K +</cx:pt>
          <cx:pt idx="1">$60K - $80K</cx:pt>
          <cx:pt idx="2">$80K - $120K</cx:pt>
          <cx:pt idx="3">$40K - $60K</cx:pt>
          <cx:pt idx="4">Less than $40K</cx:pt>
        </cx:lvl>
      </cx:strDim>
      <cx:numDim type="val">
        <cx:f>Pivot_Analiz!$L$174:$L$178</cx:f>
        <cx:lvl ptCount="5" formatCode="Genel">
          <cx:pt idx="0">1079</cx:pt>
          <cx:pt idx="1">1505</cx:pt>
          <cx:pt idx="2">1629</cx:pt>
          <cx:pt idx="3">1989</cx:pt>
          <cx:pt idx="4">3925</cx:pt>
        </cx:lvl>
      </cx:numDim>
    </cx:data>
  </cx:chartData>
  <cx:chart>
    <cx:title pos="t" align="ctr" overlay="0"/>
    <cx:plotArea>
      <cx:plotAreaRegion>
        <cx:series layoutId="funnel" uniqueId="{00000000-D81F-424F-81E5-CF373FD9494D}">
          <cx:dataLabels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7ECF-EB44-A452-6497-5942CC29A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755F3-20DE-4B8E-05B0-B6E063F2B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50CE5-98B2-0366-440D-3A353BBA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E51A1-CF61-2C04-1AC8-6B84052A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DDC44-9AF6-A84B-5A59-B97BBEA1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833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6967-F7E9-CC3A-24A5-822C3816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09DB-572D-21AA-99D0-53836537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04482-55C1-7493-3728-03415E73E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245DD-DE5B-DC30-38CD-FAA919B1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B78D2-FDB3-B1BC-CC0C-2B6CCCA4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683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D690-DDF3-ED65-E620-94C4B62B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55CF6-65D5-63C2-1133-9EEE8FA61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B0277-0163-370F-8489-D084B549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01858-BD44-A3CF-AA57-EAD05F79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680B6-C2DF-C3AC-380E-93F64E5F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343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34D2-DBCE-5279-D3EC-0A63B442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D2C34-EA02-BBB0-5D59-D96D9606D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E4239-D213-04A9-7E4C-605380484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320B2-7FD9-264B-8B37-F60432FA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860BD-37E9-3730-911C-DA25F99C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1EF0B-D477-54B8-1023-824B5825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020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F569-B609-0FFC-70EB-69C0B2A92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31714-4158-050F-E90D-D8D983B47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1795E-2F33-29D6-A1E9-EEEADD87C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77786-F4E1-EF0B-E4F1-0E9107BDE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1CE12-9386-FAEB-AD8E-69A03340B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52E74-BB77-D619-E1B4-4649A731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F6685-B05F-6B2A-C9E0-6C3D1907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90370-5A20-F5C7-B78F-40721C25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151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D7F2-C3D9-BB7D-D7EE-62F69657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E23BA-9DD9-05EB-1487-BD216F54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2B6FD-8B9B-B27B-842A-6D7684C6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606E1-9424-E3AE-0AC1-A06E3856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5562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07D92-6AA4-BBDA-AF18-30C6B103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5EC86-5FCA-B65F-2D5C-2DCFB1F04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89E17-012F-C656-9B0E-F84E123A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10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C472-14D2-62D0-003D-A955B2C7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79FC-14A3-3DD8-EE4B-70141F06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9B2B8-6626-8EF8-7E41-D2575B258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6113B-3E9F-607F-8083-B0D92CC2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29A6E-9744-B9F6-91F6-F34C9C61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6BCDC-326E-4F21-E79D-74CAB8BE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300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C698-AFE0-5DFB-5C00-B494B1A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CC15F-F662-DA76-B543-CCDBA3891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54358-74DB-9F8B-711A-5272F77A4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B2C37-F2D6-CA9A-EAFB-AD6B8208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6446E-3052-E3F6-799D-63510E99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9D3B3-E720-9D18-8A89-7D1579B3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592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0BDA-9492-F529-2E35-F43D1148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B5537-01CD-29F2-D343-D3DF0B02E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AEC80-7B5E-5C84-A18D-C8057E95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0263-0BF1-FB5C-A6DB-BE7DA8B5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E350A-4302-2435-E845-E2509100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856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0B0D9-76A9-8890-FD6C-D513E26A0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CAC00-4314-21C0-75DE-BCE881C2A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CDFBE-E872-7661-CA9E-3A6E0BDE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B0115-D2C2-9AC7-FB58-15BB8911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A526-FDA0-2418-2940-92B73E7E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569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E2B0C8-C85A-0961-E019-BF1D369F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8C535-5545-92C1-5E43-E0772360F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70A33-C154-C425-3F7A-7DC6EE940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A582-9A5B-49EB-9BBC-AABA810A0C39}" type="datetimeFigureOut">
              <a:rPr lang="tr-TR" smtClean="0"/>
              <a:t>1.08.2026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CFCCF-4F2F-56CB-6A10-465021CB2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E080D-EF4D-E86E-9261-CE185EB5D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52AB7-3336-4386-92BD-46C0422DBC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022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1817F3CA-EB3F-7D99-8323-3F4FA12ED4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625" b="8106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31F822-0447-F090-43BB-D3DFD626F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tr-TR" sz="5200" dirty="0" err="1">
                <a:solidFill>
                  <a:srgbClr val="FFFFFF"/>
                </a:solidFill>
              </a:rPr>
              <a:t>Credit</a:t>
            </a:r>
            <a:r>
              <a:rPr lang="tr-TR" sz="5200" dirty="0">
                <a:solidFill>
                  <a:srgbClr val="FFFFFF"/>
                </a:solidFill>
              </a:rPr>
              <a:t> </a:t>
            </a:r>
            <a:r>
              <a:rPr lang="tr-TR" sz="5200" dirty="0" err="1">
                <a:solidFill>
                  <a:srgbClr val="FFFFFF"/>
                </a:solidFill>
              </a:rPr>
              <a:t>Card</a:t>
            </a:r>
            <a:r>
              <a:rPr lang="tr-TR" sz="5200" dirty="0">
                <a:solidFill>
                  <a:srgbClr val="FFFFFF"/>
                </a:solidFill>
              </a:rPr>
              <a:t> </a:t>
            </a:r>
            <a:r>
              <a:rPr lang="tr-TR" sz="5200" dirty="0" err="1">
                <a:solidFill>
                  <a:srgbClr val="FFFFFF"/>
                </a:solidFill>
              </a:rPr>
              <a:t>Customer</a:t>
            </a:r>
            <a:r>
              <a:rPr lang="tr-TR" sz="5200" dirty="0">
                <a:solidFill>
                  <a:srgbClr val="FFFFFF"/>
                </a:solidFill>
              </a:rPr>
              <a:t> </a:t>
            </a:r>
            <a:r>
              <a:rPr lang="tr-TR" sz="5200" dirty="0" err="1">
                <a:solidFill>
                  <a:srgbClr val="FFFFFF"/>
                </a:solidFill>
              </a:rPr>
              <a:t>Analytics</a:t>
            </a:r>
            <a:r>
              <a:rPr lang="tr-TR" sz="5200" dirty="0">
                <a:solidFill>
                  <a:srgbClr val="FFFFFF"/>
                </a:solidFill>
              </a:rPr>
              <a:t> &amp; Strategic </a:t>
            </a:r>
            <a:r>
              <a:rPr lang="tr-TR" sz="5200" dirty="0" err="1">
                <a:solidFill>
                  <a:srgbClr val="FFFFFF"/>
                </a:solidFill>
              </a:rPr>
              <a:t>Growth</a:t>
            </a:r>
            <a:r>
              <a:rPr lang="tr-TR" sz="5200" dirty="0">
                <a:solidFill>
                  <a:srgbClr val="FFFFFF"/>
                </a:solidFill>
              </a:rPr>
              <a:t>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5D255-F7E4-141B-6E7A-DDD48CBE4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 lnSpcReduction="10000"/>
          </a:bodyPr>
          <a:lstStyle/>
          <a:p>
            <a:r>
              <a:rPr lang="tr-TR" sz="1400" dirty="0">
                <a:solidFill>
                  <a:srgbClr val="FFFFFF"/>
                </a:solidFill>
              </a:rPr>
              <a:t>Advanced Data </a:t>
            </a:r>
            <a:r>
              <a:rPr lang="tr-TR" sz="1400" dirty="0" err="1">
                <a:solidFill>
                  <a:srgbClr val="FFFFFF"/>
                </a:solidFill>
              </a:rPr>
              <a:t>Processing</a:t>
            </a:r>
            <a:r>
              <a:rPr lang="tr-TR" sz="1400" dirty="0">
                <a:solidFill>
                  <a:srgbClr val="FFFFFF"/>
                </a:solidFill>
              </a:rPr>
              <a:t>, </a:t>
            </a:r>
            <a:r>
              <a:rPr lang="tr-TR" sz="1400" dirty="0" err="1">
                <a:solidFill>
                  <a:srgbClr val="FFFFFF"/>
                </a:solidFill>
              </a:rPr>
              <a:t>Segmentation</a:t>
            </a:r>
            <a:r>
              <a:rPr lang="tr-TR" sz="1400" dirty="0">
                <a:solidFill>
                  <a:srgbClr val="FFFFFF"/>
                </a:solidFill>
              </a:rPr>
              <a:t> &amp; </a:t>
            </a:r>
            <a:r>
              <a:rPr lang="tr-TR" sz="1400" dirty="0" err="1">
                <a:solidFill>
                  <a:srgbClr val="FFFFFF"/>
                </a:solidFill>
              </a:rPr>
              <a:t>Predictive</a:t>
            </a:r>
            <a:r>
              <a:rPr lang="tr-TR" sz="1400" dirty="0">
                <a:solidFill>
                  <a:srgbClr val="FFFFFF"/>
                </a:solidFill>
              </a:rPr>
              <a:t> </a:t>
            </a:r>
            <a:r>
              <a:rPr lang="tr-TR" sz="1400" dirty="0" err="1">
                <a:solidFill>
                  <a:srgbClr val="FFFFFF"/>
                </a:solidFill>
              </a:rPr>
              <a:t>Scenarios</a:t>
            </a:r>
            <a:endParaRPr lang="tr-TR" sz="1400" dirty="0">
              <a:solidFill>
                <a:srgbClr val="FFFFFF"/>
              </a:solidFill>
            </a:endParaRPr>
          </a:p>
          <a:p>
            <a:endParaRPr lang="tr-TR" sz="1100" dirty="0">
              <a:solidFill>
                <a:srgbClr val="FFFFFF"/>
              </a:solidFill>
            </a:endParaRPr>
          </a:p>
          <a:p>
            <a:endParaRPr lang="tr-TR" sz="1100" dirty="0">
              <a:solidFill>
                <a:srgbClr val="FFFFFF"/>
              </a:solidFill>
            </a:endParaRPr>
          </a:p>
          <a:p>
            <a:endParaRPr lang="tr-TR" sz="1100" dirty="0">
              <a:solidFill>
                <a:srgbClr val="FFFFFF"/>
              </a:solidFill>
            </a:endParaRPr>
          </a:p>
          <a:p>
            <a:r>
              <a:rPr lang="tr-TR" sz="1600" dirty="0">
                <a:solidFill>
                  <a:srgbClr val="FFFFFF"/>
                </a:solidFill>
              </a:rPr>
              <a:t>Burak Canlı | 2026</a:t>
            </a:r>
          </a:p>
        </p:txBody>
      </p:sp>
    </p:spTree>
    <p:extLst>
      <p:ext uri="{BB962C8B-B14F-4D97-AF65-F5344CB8AC3E}">
        <p14:creationId xmlns:p14="http://schemas.microsoft.com/office/powerpoint/2010/main" val="115489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2BCF7-D011-67AC-28A8-380A6F5C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179A6E4-BB03-4545-E4C0-0F7A0DA51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8EEC05-AFF2-CDC3-CD90-1C439AAF7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2B97B7-1EEA-D21F-2CCD-01710363D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03C4358-D6D6-7054-1C62-9D7BA23B9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1EC8533-743B-E7A6-188B-B9D12E7F9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5DBC284-009F-572C-5009-FBA27D71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B5134A4-B84D-BA85-A50C-8AB88D925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EC7479-931E-79A3-83FE-8C713C33C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1772040-4161-D85B-DA2F-FA046DCD2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AFBE3EB-0141-EAF2-720C-3A344BD0F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1374CC0-44AE-94B1-CB42-96A256A0E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6A76F11-9F19-36C2-47B9-23C944B37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487753-A3FE-B2FA-5214-101481B7A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6FDB23-3AFE-266E-0F9C-A6563E4CC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F4ADB88-CA07-D3BC-5920-F9EFA51FC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561C63-25BC-4637-790B-EDF986F98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A5212BD-8579-0844-8529-97C6E20611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8FDF722-6A9D-5A4D-CD14-C582BB6E5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A312A-D7A0-FA32-149A-CAC5B8F3E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2EEB9E3-1339-D314-7646-B73BF74BB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F8058952-9617-EEA2-AE92-A53FFB041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67EF58-4E48-0520-BA21-59815D430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7CCA9A0-F4A3-800C-2252-D3DEF5A18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F0A5C2A-C012-B46B-5A52-E570E7BF5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ABB7D1C-F305-A8C0-BB8F-8BF098808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CA09161-461F-7188-6403-0D3338877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EDB55E4-7504-8CCF-54EB-844CBBC3F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15850D1-9188-9E68-ACAA-F247B3718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3A7F6B2-B637-B72D-5F60-4B50EED6B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DD81B85-8145-0E43-6CEE-6BFF17061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50F6582-81BA-6FE8-CCCB-AC55407F1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29AD9CC-A6FE-99E4-A7F2-A0B4CDE08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5DB48D8-27F7-9878-81A3-04F8CB4C9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9222" y="203755"/>
            <a:ext cx="10367460" cy="18326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B2C652-9F4E-DAF2-C258-93E5C921998B}"/>
              </a:ext>
            </a:extLst>
          </p:cNvPr>
          <p:cNvSpPr txBox="1"/>
          <p:nvPr/>
        </p:nvSpPr>
        <p:spPr>
          <a:xfrm>
            <a:off x="9501628" y="6284193"/>
            <a:ext cx="304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Executive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Summary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D867A-2414-7343-BA96-ACFA5C9CBEF5}"/>
              </a:ext>
            </a:extLst>
          </p:cNvPr>
          <p:cNvSpPr txBox="1"/>
          <p:nvPr/>
        </p:nvSpPr>
        <p:spPr>
          <a:xfrm>
            <a:off x="909222" y="2325188"/>
            <a:ext cx="104207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solidFill>
                  <a:schemeClr val="bg1"/>
                </a:solidFill>
              </a:rPr>
              <a:t>Comprehensive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cleaning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and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algorithmic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imputation</a:t>
            </a:r>
            <a:r>
              <a:rPr lang="tr-TR" sz="2400" dirty="0">
                <a:solidFill>
                  <a:schemeClr val="bg1"/>
                </a:solidFill>
              </a:rPr>
              <a:t> of 10,000+ </a:t>
            </a:r>
            <a:r>
              <a:rPr lang="tr-TR" sz="2400" dirty="0" err="1">
                <a:solidFill>
                  <a:schemeClr val="bg1"/>
                </a:solidFill>
              </a:rPr>
              <a:t>customer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records</a:t>
            </a:r>
            <a:r>
              <a:rPr lang="tr-TR" sz="2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solidFill>
                  <a:schemeClr val="bg1"/>
                </a:solidFill>
              </a:rPr>
              <a:t>Implementation</a:t>
            </a:r>
            <a:r>
              <a:rPr lang="tr-TR" sz="2400" dirty="0">
                <a:solidFill>
                  <a:schemeClr val="bg1"/>
                </a:solidFill>
              </a:rPr>
              <a:t> of 5-Tier Strategic </a:t>
            </a:r>
            <a:r>
              <a:rPr lang="tr-TR" sz="2400" dirty="0" err="1">
                <a:solidFill>
                  <a:schemeClr val="bg1"/>
                </a:solidFill>
              </a:rPr>
              <a:t>Customer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Segmentation</a:t>
            </a:r>
            <a:r>
              <a:rPr lang="tr-TR" sz="2400" dirty="0">
                <a:solidFill>
                  <a:schemeClr val="bg1"/>
                </a:solidFill>
              </a:rPr>
              <a:t> (VIP, </a:t>
            </a:r>
            <a:r>
              <a:rPr lang="tr-TR" sz="2400" dirty="0" err="1">
                <a:solidFill>
                  <a:schemeClr val="bg1"/>
                </a:solidFill>
              </a:rPr>
              <a:t>Potential</a:t>
            </a:r>
            <a:r>
              <a:rPr lang="tr-TR" sz="2400" dirty="0">
                <a:solidFill>
                  <a:schemeClr val="bg1"/>
                </a:solidFill>
              </a:rPr>
              <a:t>, </a:t>
            </a:r>
            <a:r>
              <a:rPr lang="tr-TR" sz="2400" dirty="0" err="1">
                <a:solidFill>
                  <a:schemeClr val="bg1"/>
                </a:solidFill>
              </a:rPr>
              <a:t>Regular</a:t>
            </a:r>
            <a:r>
              <a:rPr lang="tr-TR" sz="2400" dirty="0">
                <a:solidFill>
                  <a:schemeClr val="bg1"/>
                </a:solidFill>
              </a:rPr>
              <a:t>, At-Risk, </a:t>
            </a:r>
            <a:r>
              <a:rPr lang="tr-TR" sz="2400" dirty="0" err="1">
                <a:solidFill>
                  <a:schemeClr val="bg1"/>
                </a:solidFill>
              </a:rPr>
              <a:t>Passive</a:t>
            </a:r>
            <a:r>
              <a:rPr lang="tr-TR" sz="2400" dirty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bg1"/>
                </a:solidFill>
              </a:rPr>
              <a:t>Data-</a:t>
            </a:r>
            <a:r>
              <a:rPr lang="tr-TR" sz="2400" dirty="0" err="1">
                <a:solidFill>
                  <a:schemeClr val="bg1"/>
                </a:solidFill>
              </a:rPr>
              <a:t>driven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financial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simulation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and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automated</a:t>
            </a:r>
            <a:r>
              <a:rPr lang="tr-TR" sz="2400" dirty="0">
                <a:solidFill>
                  <a:schemeClr val="bg1"/>
                </a:solidFill>
              </a:rPr>
              <a:t> C-Level </a:t>
            </a:r>
            <a:r>
              <a:rPr lang="tr-TR" sz="2400" dirty="0" err="1">
                <a:solidFill>
                  <a:schemeClr val="bg1"/>
                </a:solidFill>
              </a:rPr>
              <a:t>dashboard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architecture</a:t>
            </a:r>
            <a:r>
              <a:rPr lang="tr-TR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4968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2DAF4-92C0-DB9B-1DC4-5C67F6CF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54F6CE8-AA63-459F-EAEC-6E6204D94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0F975B-EA8E-854C-8981-DDF0068F3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640E8F8-826B-B3D1-61DD-7BEFF8802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D8E751C-E5A5-C54A-82B2-097617B90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8FA1E43-3A22-59E6-1C74-203EA5A9F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5CE70BA-7E17-7B27-61E5-7E2C5C998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F22923-4287-75C5-4A71-F0D81107C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3285B4B-65FF-7862-667F-CF10ED1B0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A82AF3-38FF-03AD-ECF1-E1685437B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0F45B21-7E9A-56AB-48C3-BFD994CA2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19BFE4-9C3C-A21B-8326-4E6DA9242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9E0AAB2-F1F7-1F68-0279-07F752DC6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A2AB808-29CB-CB81-009B-B22C0CF8A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2A11A1-B993-0316-154E-34A16BA09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0BC6B33-FB2E-FE83-A726-5F9769ACE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24770E-86CE-C4BB-6549-E5B95DDD2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44C45F9-7A3A-9DCC-59C4-BAF533A1B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4A43B5-C20A-D38E-2DD8-3FAC9B795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D6DCD69-4AA4-3243-1A60-C7879D1FF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0B8DAE2-C1B4-ED96-8E59-DFFB78E7B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57DADCE-37B7-73DF-0FDE-BC4810857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2CE305-5EE5-3429-602E-C2FD9A486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4C29141-2F7E-1CD4-E12C-0D78F0186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81D478-5724-C992-5A48-97FE9B8AD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CD93AF0-30B5-037F-6366-83AA602FB5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3F4D5AB-A619-C814-25E2-B4EA78455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986BA41-889B-C838-E6CA-53330DA3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686DE27-D42B-628B-D714-2C8FA128D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162FA5A-8E88-F354-A974-0EC047D16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8508C1F-C84A-7034-FB74-3C9FB62EC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909D77F-49A4-6080-FBFE-8B314167F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F79FD7-F5BE-1D33-B854-83D992148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6500CA-F3C7-CE5E-F365-6254C0BE177A}"/>
              </a:ext>
            </a:extLst>
          </p:cNvPr>
          <p:cNvSpPr txBox="1"/>
          <p:nvPr/>
        </p:nvSpPr>
        <p:spPr>
          <a:xfrm>
            <a:off x="9135624" y="6217125"/>
            <a:ext cx="304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Data </a:t>
            </a:r>
            <a:r>
              <a:rPr lang="tr-TR" dirty="0" err="1">
                <a:solidFill>
                  <a:schemeClr val="bg1"/>
                </a:solidFill>
              </a:rPr>
              <a:t>Engineering</a:t>
            </a:r>
            <a:r>
              <a:rPr lang="tr-TR" dirty="0">
                <a:solidFill>
                  <a:schemeClr val="bg1"/>
                </a:solidFill>
              </a:rPr>
              <a:t> &amp; </a:t>
            </a:r>
            <a:r>
              <a:rPr lang="tr-TR" dirty="0" err="1">
                <a:solidFill>
                  <a:schemeClr val="bg1"/>
                </a:solidFill>
              </a:rPr>
              <a:t>Hygiene</a:t>
            </a:r>
            <a:endParaRPr lang="tr-TR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48D1FE-AFD2-9971-6046-87BD77F1B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40" y="3801294"/>
            <a:ext cx="5737484" cy="2333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65A66B-A14B-8957-8537-616EF2C6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0" y="440808"/>
            <a:ext cx="5684289" cy="25923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DB38F10-D608-34FD-D0F0-DE32EBD27F13}"/>
              </a:ext>
            </a:extLst>
          </p:cNvPr>
          <p:cNvSpPr/>
          <p:nvPr/>
        </p:nvSpPr>
        <p:spPr>
          <a:xfrm>
            <a:off x="446140" y="2689721"/>
            <a:ext cx="5684289" cy="3434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945B99-61B6-03A4-282C-89083CE39916}"/>
              </a:ext>
            </a:extLst>
          </p:cNvPr>
          <p:cNvSpPr/>
          <p:nvPr/>
        </p:nvSpPr>
        <p:spPr>
          <a:xfrm>
            <a:off x="446140" y="5815721"/>
            <a:ext cx="5766296" cy="31910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DF9705-A0C6-9E95-9DA5-60F3736967E7}"/>
              </a:ext>
            </a:extLst>
          </p:cNvPr>
          <p:cNvSpPr txBox="1"/>
          <p:nvPr/>
        </p:nvSpPr>
        <p:spPr>
          <a:xfrm>
            <a:off x="6746993" y="866585"/>
            <a:ext cx="4098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 err="1">
                <a:solidFill>
                  <a:schemeClr val="bg1"/>
                </a:solidFill>
              </a:rPr>
              <a:t>Outlier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Treatment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Corrected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anomalous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age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records</a:t>
            </a:r>
            <a:r>
              <a:rPr lang="tr-TR" sz="2000" dirty="0">
                <a:solidFill>
                  <a:schemeClr val="bg1"/>
                </a:solidFill>
              </a:rPr>
              <a:t> (0 &amp; 197) </a:t>
            </a:r>
            <a:r>
              <a:rPr lang="tr-TR" sz="2000" dirty="0" err="1">
                <a:solidFill>
                  <a:schemeClr val="bg1"/>
                </a:solidFill>
              </a:rPr>
              <a:t>and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negative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credit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limits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using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median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imputation</a:t>
            </a:r>
            <a:r>
              <a:rPr lang="tr-TR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 err="1">
                <a:solidFill>
                  <a:schemeClr val="bg1"/>
                </a:solidFill>
              </a:rPr>
              <a:t>Standardization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Cleaned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textual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irregularities</a:t>
            </a:r>
            <a:r>
              <a:rPr lang="tr-TR" sz="2000" dirty="0">
                <a:solidFill>
                  <a:schemeClr val="bg1"/>
                </a:solidFill>
              </a:rPr>
              <a:t> in </a:t>
            </a:r>
            <a:r>
              <a:rPr lang="tr-TR" sz="2000" dirty="0" err="1">
                <a:solidFill>
                  <a:schemeClr val="bg1"/>
                </a:solidFill>
              </a:rPr>
              <a:t>education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levels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using</a:t>
            </a:r>
            <a:r>
              <a:rPr lang="tr-TR" sz="2000" dirty="0">
                <a:solidFill>
                  <a:schemeClr val="bg1"/>
                </a:solidFill>
              </a:rPr>
              <a:t> TRIM </a:t>
            </a:r>
            <a:r>
              <a:rPr lang="tr-TR" sz="2000" dirty="0" err="1">
                <a:solidFill>
                  <a:schemeClr val="bg1"/>
                </a:solidFill>
              </a:rPr>
              <a:t>and</a:t>
            </a:r>
            <a:r>
              <a:rPr lang="tr-TR" sz="2000" dirty="0">
                <a:solidFill>
                  <a:schemeClr val="bg1"/>
                </a:solidFill>
              </a:rPr>
              <a:t> PROPER </a:t>
            </a:r>
            <a:r>
              <a:rPr lang="tr-TR" sz="2000" dirty="0" err="1">
                <a:solidFill>
                  <a:schemeClr val="bg1"/>
                </a:solidFill>
              </a:rPr>
              <a:t>functions</a:t>
            </a:r>
            <a:endParaRPr lang="tr-T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solidFill>
                  <a:schemeClr val="bg1"/>
                </a:solidFill>
              </a:rPr>
              <a:t>Smart </a:t>
            </a:r>
            <a:r>
              <a:rPr lang="tr-TR" sz="2000" dirty="0" err="1">
                <a:solidFill>
                  <a:schemeClr val="bg1"/>
                </a:solidFill>
              </a:rPr>
              <a:t>Imputation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Algorithmically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resolved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missing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income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brackets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based</a:t>
            </a:r>
            <a:r>
              <a:rPr lang="tr-TR" sz="2000" dirty="0">
                <a:solidFill>
                  <a:schemeClr val="bg1"/>
                </a:solidFill>
              </a:rPr>
              <a:t> on </a:t>
            </a:r>
            <a:r>
              <a:rPr lang="tr-TR" sz="2000" dirty="0" err="1">
                <a:solidFill>
                  <a:schemeClr val="bg1"/>
                </a:solidFill>
              </a:rPr>
              <a:t>credit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limits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instead</a:t>
            </a:r>
            <a:r>
              <a:rPr lang="tr-TR" sz="2000" dirty="0">
                <a:solidFill>
                  <a:schemeClr val="bg1"/>
                </a:solidFill>
              </a:rPr>
              <a:t> of </a:t>
            </a:r>
            <a:r>
              <a:rPr lang="tr-TR" sz="2000" dirty="0" err="1">
                <a:solidFill>
                  <a:schemeClr val="bg1"/>
                </a:solidFill>
              </a:rPr>
              <a:t>raw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deletion</a:t>
            </a:r>
            <a:r>
              <a:rPr lang="tr-T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079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52F65-A637-9FA6-BF25-F3987128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0080997-7978-934B-A900-AF0D48E96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A6C3302-8AE4-A103-0C62-E9D6685D49E1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5-Tier Strategic </a:t>
            </a:r>
            <a:r>
              <a:rPr lang="tr-TR" dirty="0" err="1">
                <a:solidFill>
                  <a:schemeClr val="bg1"/>
                </a:solidFill>
              </a:rPr>
              <a:t>Customer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Segmentation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D5F87-90FF-DBF1-5AF7-E8414EB5DABD}"/>
              </a:ext>
            </a:extLst>
          </p:cNvPr>
          <p:cNvSpPr txBox="1"/>
          <p:nvPr/>
        </p:nvSpPr>
        <p:spPr>
          <a:xfrm>
            <a:off x="617377" y="1926213"/>
            <a:ext cx="5187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Algorithmic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Hierarchy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Developed</a:t>
            </a:r>
            <a:r>
              <a:rPr lang="tr-TR" dirty="0">
                <a:solidFill>
                  <a:schemeClr val="bg1"/>
                </a:solidFill>
              </a:rPr>
              <a:t> a </a:t>
            </a:r>
            <a:r>
              <a:rPr lang="tr-TR" dirty="0" err="1">
                <a:solidFill>
                  <a:schemeClr val="bg1"/>
                </a:solidFill>
              </a:rPr>
              <a:t>multi-variable</a:t>
            </a:r>
            <a:r>
              <a:rPr lang="tr-TR" dirty="0">
                <a:solidFill>
                  <a:schemeClr val="bg1"/>
                </a:solidFill>
              </a:rPr>
              <a:t> model </a:t>
            </a:r>
            <a:r>
              <a:rPr lang="tr-TR" dirty="0" err="1">
                <a:solidFill>
                  <a:schemeClr val="bg1"/>
                </a:solidFill>
              </a:rPr>
              <a:t>combining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transaction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volume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frequency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rather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than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simple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spending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VIP </a:t>
            </a:r>
            <a:r>
              <a:rPr lang="tr-TR" dirty="0" err="1">
                <a:solidFill>
                  <a:schemeClr val="bg1"/>
                </a:solidFill>
              </a:rPr>
              <a:t>Identification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Successfully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isolated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high-value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cardholders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prioritize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retention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campaigns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Risk </a:t>
            </a:r>
            <a:r>
              <a:rPr lang="tr-TR" dirty="0" err="1">
                <a:solidFill>
                  <a:schemeClr val="bg1"/>
                </a:solidFill>
              </a:rPr>
              <a:t>Mitigation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Grouped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declining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inactive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customers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into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targeted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recovery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brackets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66BE2AEC-9DAD-4BEE-B3A7-8DF707C2A3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2508201"/>
              </p:ext>
            </p:extLst>
          </p:nvPr>
        </p:nvGraphicFramePr>
        <p:xfrm>
          <a:off x="5688102" y="809011"/>
          <a:ext cx="6449612" cy="451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940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4B042-0D62-8C55-1FB7-F2A13CCF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03EF421-9C07-11FF-8FAA-A2890633F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F1A135-A0FE-B752-00BA-AFB2DE932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7A1FD3-8D55-19FD-1286-4739CDEAB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766ED6E-2BF0-E896-FF81-41777B6F5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C050AD-AB78-9E7D-68EF-AB97F30D9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DB5576-03B3-63B3-0F3D-75CD5A5BB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B9B04F2-F95A-AA6F-C384-276C025F5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ED1B57E-67AA-1C22-1ADC-6A1C5401B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C840E27-0AC6-86B5-1884-C37EC0F48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341CE03-BF95-D061-C55C-06BB68C2B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AD7ABC-2CE6-0A38-B747-5539483F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FEEBAF7-58B2-0BAC-913A-11C857693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7420D69-03D0-C11D-53ED-4ECF3AC4E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7EF213-FD18-C548-F17C-5ECD02618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917EE1E-FD6E-4C2C-3BEA-12014CAB7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A68D57-E29A-2490-969F-99F98E2A0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2FF9406-1D0A-195D-72FF-64BAB2370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4DB79EA-9116-292B-E652-8CE3598C2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667BB0A-C313-39A7-47BF-DDD64D08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CDE9641-1FB5-50EA-7259-EE219E498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5CDA68E8-ED2C-F2AB-4962-22D6CBEBF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B8B2D1-9CB9-D7BD-2EDC-3AD3F68D8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6B6867-5BD3-228F-56E9-ABC06C3C3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E57F4D0-EFAF-D22A-CB45-4B62BFF96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6FCE0D9-8017-C1A4-C75E-2AD28CBD1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ECD6F0-C3D3-9CC9-4B99-8C26E31CD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7A74BE6-E9B3-CE3F-9CBA-2EC3E5955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7AA3E48-C336-2EAB-79B7-9B9D85B6E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A8BE9F1-0CE8-1FD4-D3DD-42A7DC051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4A0A8E2-53D4-3E6E-F146-EEA14B06D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BB5D41E-8586-AFD4-63A7-4425E2622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A2E546D-288C-D8EC-AE0B-CC0EAA4D1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AA307D1-37A4-A578-7FC3-CFB56A91D999}"/>
              </a:ext>
            </a:extLst>
          </p:cNvPr>
          <p:cNvSpPr txBox="1"/>
          <p:nvPr/>
        </p:nvSpPr>
        <p:spPr>
          <a:xfrm>
            <a:off x="8721759" y="6217125"/>
            <a:ext cx="3459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Demographics</a:t>
            </a:r>
            <a:r>
              <a:rPr lang="tr-TR" dirty="0">
                <a:solidFill>
                  <a:schemeClr val="bg1"/>
                </a:solidFill>
              </a:rPr>
              <a:t> &amp; </a:t>
            </a:r>
            <a:r>
              <a:rPr lang="tr-TR" dirty="0" err="1">
                <a:solidFill>
                  <a:schemeClr val="bg1"/>
                </a:solidFill>
              </a:rPr>
              <a:t>Attrition</a:t>
            </a:r>
            <a:r>
              <a:rPr lang="tr-TR" dirty="0">
                <a:solidFill>
                  <a:schemeClr val="bg1"/>
                </a:solidFill>
              </a:rPr>
              <a:t> Radar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413965-847D-61B7-EBA5-784045C90AA0}"/>
              </a:ext>
            </a:extLst>
          </p:cNvPr>
          <p:cNvSpPr txBox="1"/>
          <p:nvPr/>
        </p:nvSpPr>
        <p:spPr>
          <a:xfrm>
            <a:off x="1083018" y="952928"/>
            <a:ext cx="54149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solidFill>
                  <a:schemeClr val="bg1"/>
                </a:solidFill>
              </a:rPr>
              <a:t>Age Distribution: </a:t>
            </a:r>
            <a:r>
              <a:rPr lang="tr-TR" sz="2000" dirty="0" err="1">
                <a:solidFill>
                  <a:schemeClr val="bg1"/>
                </a:solidFill>
              </a:rPr>
              <a:t>Mapped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customer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density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across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age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brackets</a:t>
            </a:r>
            <a:r>
              <a:rPr lang="tr-TR" sz="2000" dirty="0">
                <a:solidFill>
                  <a:schemeClr val="bg1"/>
                </a:solidFill>
              </a:rPr>
              <a:t> (</a:t>
            </a:r>
            <a:r>
              <a:rPr lang="tr-TR" sz="2000" dirty="0" err="1">
                <a:solidFill>
                  <a:schemeClr val="bg1"/>
                </a:solidFill>
              </a:rPr>
              <a:t>Age_Group</a:t>
            </a:r>
            <a:r>
              <a:rPr lang="tr-TR" sz="2000" dirty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solidFill>
                  <a:schemeClr val="bg1"/>
                </a:solidFill>
              </a:rPr>
              <a:t>Tenure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Impact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Evaluated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customer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loyalty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duration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against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churn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rates</a:t>
            </a: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solidFill>
                  <a:schemeClr val="bg1"/>
                </a:solidFill>
              </a:rPr>
              <a:t>Actionable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Insights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Discovered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critical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drop-off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points</a:t>
            </a:r>
            <a:r>
              <a:rPr lang="tr-TR" sz="2000" dirty="0">
                <a:solidFill>
                  <a:schemeClr val="bg1"/>
                </a:solidFill>
              </a:rPr>
              <a:t> in </a:t>
            </a:r>
            <a:r>
              <a:rPr lang="tr-TR" sz="2000" dirty="0" err="1">
                <a:solidFill>
                  <a:schemeClr val="bg1"/>
                </a:solidFill>
              </a:rPr>
              <a:t>specific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age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tiers</a:t>
            </a:r>
            <a:r>
              <a:rPr lang="tr-TR" sz="2000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872078-FBEE-3410-AD0F-33AEAD6A1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924774"/>
              </p:ext>
            </p:extLst>
          </p:nvPr>
        </p:nvGraphicFramePr>
        <p:xfrm>
          <a:off x="6790195" y="4424084"/>
          <a:ext cx="51943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1872">
                  <a:extLst>
                    <a:ext uri="{9D8B030D-6E8A-4147-A177-3AD203B41FA5}">
                      <a16:colId xmlns:a16="http://schemas.microsoft.com/office/drawing/2014/main" val="974278189"/>
                    </a:ext>
                  </a:extLst>
                </a:gridCol>
                <a:gridCol w="1522139">
                  <a:extLst>
                    <a:ext uri="{9D8B030D-6E8A-4147-A177-3AD203B41FA5}">
                      <a16:colId xmlns:a16="http://schemas.microsoft.com/office/drawing/2014/main" val="923765709"/>
                    </a:ext>
                  </a:extLst>
                </a:gridCol>
                <a:gridCol w="1588733">
                  <a:extLst>
                    <a:ext uri="{9D8B030D-6E8A-4147-A177-3AD203B41FA5}">
                      <a16:colId xmlns:a16="http://schemas.microsoft.com/office/drawing/2014/main" val="2218485898"/>
                    </a:ext>
                  </a:extLst>
                </a:gridCol>
                <a:gridCol w="751556">
                  <a:extLst>
                    <a:ext uri="{9D8B030D-6E8A-4147-A177-3AD203B41FA5}">
                      <a16:colId xmlns:a16="http://schemas.microsoft.com/office/drawing/2014/main" val="242292286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Count of CLIENTNUM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Column Labels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13510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Row Labels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F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M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Grand Total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3961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25-35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 dirty="0">
                          <a:effectLst/>
                        </a:rPr>
                        <a:t>466</a:t>
                      </a: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436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902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72928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36-45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 dirty="0">
                          <a:effectLst/>
                        </a:rPr>
                        <a:t>1977</a:t>
                      </a: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1765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3742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5387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46-55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2208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1952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4160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07601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56+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707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616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 dirty="0">
                          <a:effectLst/>
                        </a:rPr>
                        <a:t>1323</a:t>
                      </a: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7193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Grand Total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5358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4769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 dirty="0">
                          <a:effectLst/>
                        </a:rPr>
                        <a:t>10127</a:t>
                      </a:r>
                      <a:endParaRPr lang="tr-T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5935746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67BE097-4740-43C3-95FC-32BA13895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9720584"/>
              </p:ext>
            </p:extLst>
          </p:nvPr>
        </p:nvGraphicFramePr>
        <p:xfrm>
          <a:off x="6904095" y="804608"/>
          <a:ext cx="4912578" cy="3189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216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F1BF2-A95F-6ADD-ABF4-DBA43D87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5DD781A-E479-D772-7D96-6244CE7BE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D4DAA7-3D51-A661-74F0-AD8718F90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D983D3-DCFB-8738-2CAB-60315CF4E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A1AB1E-2E40-F860-690D-C89B2405A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B2AF14-91DF-82B0-DD4B-6F9512BE1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F2BD232-3075-5CBA-0A06-1854D6E54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CA54549-8F29-6857-20D2-1EEE5984F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8D36C30-57E3-0313-5EEF-184FEDA47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34D4AE-8059-C203-B343-6695A09B2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F7904F9-E6E3-1B66-0DAE-74B2DD96F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7548C3-D8D1-A54F-0F00-CF09CF064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682715-1AD0-2DE5-0EB9-0FF382F288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F27FB13-A2F9-B980-8556-DB3DE938C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8AC2C8-4368-4F0D-561C-21E7FAE1C8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814FBD-448C-9149-D32C-306C693FA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EAB5C4-87F6-63B0-B4AE-3FFBB9C5D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5743B3E-5D92-8817-8C3D-2A0A2FE22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0A3F6E5-B18E-4989-21CF-CD222105C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E515F1-3CC7-5267-A9AE-0F41EDB69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2D0DD9-99F1-DDF5-D67B-1FF96489F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40D89198-8513-8704-2190-FE370B30D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72F274E-31BE-F2FB-7F4F-E99200AD6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54DE2AB-60A7-DC87-32F0-2DA811F1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517773D-C091-45E5-A47D-0837E70E6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20793CA-0732-ABB8-240B-7DD035DF1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BCBADDA-7CAE-869A-3460-A7354B468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F1567E8-D02F-CAD0-D363-C30B770DD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A47C88C-E22E-C595-5B71-0710C4539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A8FD81-3519-FFEC-589E-B69B6DB54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39299A4-36CC-F964-BA81-4FAB3DF83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00A8410-059A-F088-D48A-09320A697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2A0F761-BDBB-3354-0F91-D71951D1B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1D121F6-0925-EA08-4ABA-B06AD7DB096D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Pareto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Revenue</a:t>
            </a:r>
            <a:r>
              <a:rPr lang="tr-TR" dirty="0">
                <a:solidFill>
                  <a:schemeClr val="bg1"/>
                </a:solidFill>
              </a:rPr>
              <a:t> &amp; </a:t>
            </a:r>
            <a:r>
              <a:rPr lang="tr-TR" dirty="0" err="1">
                <a:solidFill>
                  <a:schemeClr val="bg1"/>
                </a:solidFill>
              </a:rPr>
              <a:t>Income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Hiyerarchy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16F4EB-E9CB-6BC8-D27D-31E8A4EFB585}"/>
              </a:ext>
            </a:extLst>
          </p:cNvPr>
          <p:cNvSpPr txBox="1"/>
          <p:nvPr/>
        </p:nvSpPr>
        <p:spPr>
          <a:xfrm>
            <a:off x="946457" y="1027875"/>
            <a:ext cx="10423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Core</a:t>
            </a:r>
            <a:r>
              <a:rPr lang="tr-TR" dirty="0">
                <a:solidFill>
                  <a:schemeClr val="bg1"/>
                </a:solidFill>
              </a:rPr>
              <a:t> Driver </a:t>
            </a:r>
            <a:r>
              <a:rPr lang="tr-TR" dirty="0" err="1">
                <a:solidFill>
                  <a:schemeClr val="bg1"/>
                </a:solidFill>
              </a:rPr>
              <a:t>Identification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top 20% of </a:t>
            </a:r>
            <a:r>
              <a:rPr lang="tr-TR" dirty="0" err="1">
                <a:solidFill>
                  <a:schemeClr val="bg1"/>
                </a:solidFill>
              </a:rPr>
              <a:t>card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categories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generate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vast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majority</a:t>
            </a:r>
            <a:r>
              <a:rPr lang="tr-TR" dirty="0">
                <a:solidFill>
                  <a:schemeClr val="bg1"/>
                </a:solidFill>
              </a:rPr>
              <a:t> of </a:t>
            </a:r>
            <a:r>
              <a:rPr lang="tr-TR" dirty="0" err="1">
                <a:solidFill>
                  <a:schemeClr val="bg1"/>
                </a:solidFill>
              </a:rPr>
              <a:t>volume</a:t>
            </a:r>
            <a:r>
              <a:rPr lang="tr-TR" dirty="0">
                <a:solidFill>
                  <a:schemeClr val="bg1"/>
                </a:solidFill>
              </a:rPr>
              <a:t> (</a:t>
            </a:r>
            <a:r>
              <a:rPr lang="tr-TR" dirty="0" err="1">
                <a:solidFill>
                  <a:schemeClr val="bg1"/>
                </a:solidFill>
              </a:rPr>
              <a:t>Left</a:t>
            </a:r>
            <a:r>
              <a:rPr lang="tr-TR" dirty="0">
                <a:solidFill>
                  <a:schemeClr val="bg1"/>
                </a:solidFill>
              </a:rPr>
              <a:t> Chart).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Funnel</a:t>
            </a:r>
            <a:r>
              <a:rPr lang="tr-TR" dirty="0">
                <a:solidFill>
                  <a:schemeClr val="bg1"/>
                </a:solidFill>
              </a:rPr>
              <a:t> Analysis: </a:t>
            </a:r>
            <a:r>
              <a:rPr lang="tr-TR" dirty="0" err="1">
                <a:solidFill>
                  <a:schemeClr val="bg1"/>
                </a:solidFill>
              </a:rPr>
              <a:t>Visualized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income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bracket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hierarchy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understand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demographic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purchasing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power</a:t>
            </a:r>
            <a:r>
              <a:rPr lang="tr-TR" dirty="0">
                <a:solidFill>
                  <a:schemeClr val="bg1"/>
                </a:solidFill>
              </a:rPr>
              <a:t> (Right Chart).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9A42549-7985-489D-B011-AF096D804C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8445031"/>
              </p:ext>
            </p:extLst>
          </p:nvPr>
        </p:nvGraphicFramePr>
        <p:xfrm>
          <a:off x="573179" y="3149204"/>
          <a:ext cx="5331008" cy="3329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4BB7C2AF-1C10-49B7-BFCA-03933ACA34F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60726959"/>
                  </p:ext>
                </p:extLst>
              </p:nvPr>
            </p:nvGraphicFramePr>
            <p:xfrm>
              <a:off x="6048842" y="2941901"/>
              <a:ext cx="5111347" cy="319416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4BB7C2AF-1C10-49B7-BFCA-03933ACA34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8842" y="2941901"/>
                <a:ext cx="5111347" cy="31941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961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EAB91-6AB8-8E21-4CBA-9A7F60D6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513459F-F355-2EBA-1AD5-AE461A662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F047FC-64FA-A8D4-49CF-852710E54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29B381-76AD-6D2B-9AEB-8A3227A7A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627661-065A-196C-9F3F-D4D09CFE0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4B1FB8B-DA66-12A2-EC4C-474EA6205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DE0186-22D9-CED3-0762-D8B70816F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407FA92-5358-DBE8-D779-DE2034E21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6AE43EC-481D-A7AE-8C3B-82C826F04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C32CC38-30AE-5058-3711-527E6EC73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7B515EF-FFC2-F80B-BB7B-D655CD73A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1963F8-B740-9859-74AC-882FD72B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7DF4D1C-6642-3370-A7F3-6F37DF94A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E33435E-7564-5CB2-86EB-790EA9C68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5F89B1F-CA7E-997B-E358-B6E2EB935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FAAA8A-288A-F65D-22B1-3F1A9EA8F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E9419B-9B49-3B61-1757-BA32EAF7F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E08460E-8747-42B8-228A-9B3A85431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C489D61-FE48-6A64-B772-8258BD296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A6B083-C0D0-E334-BC8C-1891FE68E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44684F9-073F-8256-AF23-F86EB5CBB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73B87B0-4E7D-4FAD-5292-3D740830B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E8CB771-2DE9-FF7B-FD5F-42EC5426B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C565A0C-5A0F-F1CD-45DF-19F7D7D9A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A3C22DF-C747-CFAC-5144-58228AE7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9D3A394-4EE8-FB43-9C63-943FB4C3C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7320473-566A-C3C4-C2AB-37DACB345E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21D788E-544A-19C8-692D-54863A1A0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19B588-6A32-6B46-D8CC-4859F6CD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1B39271-8003-166B-4275-57FE50B374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9A9F05-8ECE-4327-EAE7-D4F4F32E48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E5F7823-29AE-725E-2EDB-738030939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10EAD50-B96F-CC8A-8564-95E003DBB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74043A0-9E1B-7AE7-1CA6-30A5EF92FC80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Predictive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Modeling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Goal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Seek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Simulation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05290E-10C7-8EDB-E881-3FC49C347AAA}"/>
              </a:ext>
            </a:extLst>
          </p:cNvPr>
          <p:cNvSpPr txBox="1"/>
          <p:nvPr/>
        </p:nvSpPr>
        <p:spPr>
          <a:xfrm>
            <a:off x="1571317" y="2429417"/>
            <a:ext cx="83976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solidFill>
                  <a:schemeClr val="bg1"/>
                </a:solidFill>
              </a:rPr>
              <a:t>Targeting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Simulated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required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average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credit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limits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to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achieve</a:t>
            </a:r>
            <a:r>
              <a:rPr lang="tr-TR" sz="2000" dirty="0">
                <a:solidFill>
                  <a:schemeClr val="bg1"/>
                </a:solidFill>
              </a:rPr>
              <a:t> a </a:t>
            </a:r>
            <a:r>
              <a:rPr lang="tr-TR" sz="2000" dirty="0" err="1">
                <a:solidFill>
                  <a:schemeClr val="bg1"/>
                </a:solidFill>
              </a:rPr>
              <a:t>baseline</a:t>
            </a:r>
            <a:r>
              <a:rPr lang="tr-TR" sz="2000" dirty="0">
                <a:solidFill>
                  <a:schemeClr val="bg1"/>
                </a:solidFill>
              </a:rPr>
              <a:t> $3,000 </a:t>
            </a:r>
            <a:r>
              <a:rPr lang="tr-TR" sz="2000" dirty="0" err="1">
                <a:solidFill>
                  <a:schemeClr val="bg1"/>
                </a:solidFill>
              </a:rPr>
              <a:t>monthly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transaction</a:t>
            </a:r>
            <a:r>
              <a:rPr lang="tr-TR" sz="2000" dirty="0">
                <a:solidFill>
                  <a:schemeClr val="bg1"/>
                </a:solidFill>
              </a:rPr>
              <a:t> volüme.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solidFill>
                  <a:schemeClr val="bg1"/>
                </a:solidFill>
              </a:rPr>
              <a:t>Mathematical </a:t>
            </a:r>
            <a:r>
              <a:rPr lang="tr-TR" sz="2000" dirty="0" err="1">
                <a:solidFill>
                  <a:schemeClr val="bg1"/>
                </a:solidFill>
              </a:rPr>
              <a:t>Baseline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Identified</a:t>
            </a:r>
            <a:r>
              <a:rPr lang="tr-TR" sz="2000" dirty="0">
                <a:solidFill>
                  <a:schemeClr val="bg1"/>
                </a:solidFill>
              </a:rPr>
              <a:t> $11,111 as </a:t>
            </a:r>
            <a:r>
              <a:rPr lang="tr-TR" sz="2000" dirty="0" err="1">
                <a:solidFill>
                  <a:schemeClr val="bg1"/>
                </a:solidFill>
              </a:rPr>
              <a:t>the</a:t>
            </a:r>
            <a:r>
              <a:rPr lang="tr-TR" sz="2000" dirty="0">
                <a:solidFill>
                  <a:schemeClr val="bg1"/>
                </a:solidFill>
              </a:rPr>
              <a:t> optimal </a:t>
            </a:r>
            <a:r>
              <a:rPr lang="tr-TR" sz="2000" dirty="0" err="1">
                <a:solidFill>
                  <a:schemeClr val="bg1"/>
                </a:solidFill>
              </a:rPr>
              <a:t>credit</a:t>
            </a:r>
            <a:r>
              <a:rPr lang="tr-TR" sz="2000" dirty="0">
                <a:solidFill>
                  <a:schemeClr val="bg1"/>
                </a:solidFill>
              </a:rPr>
              <a:t> limit </a:t>
            </a:r>
            <a:r>
              <a:rPr lang="tr-TR" sz="2000" dirty="0" err="1">
                <a:solidFill>
                  <a:schemeClr val="bg1"/>
                </a:solidFill>
              </a:rPr>
              <a:t>threshold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for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target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acquisition</a:t>
            </a:r>
            <a:r>
              <a:rPr lang="tr-TR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solidFill>
                  <a:schemeClr val="bg1"/>
                </a:solidFill>
              </a:rPr>
              <a:t>Strategic </a:t>
            </a:r>
            <a:r>
              <a:rPr lang="tr-TR" sz="2000" dirty="0" err="1">
                <a:solidFill>
                  <a:schemeClr val="bg1"/>
                </a:solidFill>
              </a:rPr>
              <a:t>Constraint</a:t>
            </a:r>
            <a:r>
              <a:rPr lang="tr-TR" sz="2000" dirty="0">
                <a:solidFill>
                  <a:schemeClr val="bg1"/>
                </a:solidFill>
              </a:rPr>
              <a:t>: </a:t>
            </a:r>
            <a:r>
              <a:rPr lang="tr-TR" sz="2000" dirty="0" err="1">
                <a:solidFill>
                  <a:schemeClr val="bg1"/>
                </a:solidFill>
              </a:rPr>
              <a:t>Modeled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dynamic</a:t>
            </a:r>
            <a:r>
              <a:rPr lang="tr-TR" sz="2000" dirty="0">
                <a:solidFill>
                  <a:schemeClr val="bg1"/>
                </a:solidFill>
              </a:rPr>
              <a:t> limit </a:t>
            </a:r>
            <a:r>
              <a:rPr lang="tr-TR" sz="2000" dirty="0" err="1">
                <a:solidFill>
                  <a:schemeClr val="bg1"/>
                </a:solidFill>
              </a:rPr>
              <a:t>adjustments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for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rapid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executive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decision-making</a:t>
            </a:r>
            <a:r>
              <a:rPr lang="tr-TR" sz="2000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37932A-EB31-CADE-0CD1-DEC50B820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07670"/>
              </p:ext>
            </p:extLst>
          </p:nvPr>
        </p:nvGraphicFramePr>
        <p:xfrm>
          <a:off x="2851024" y="623929"/>
          <a:ext cx="5249214" cy="1437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804">
                  <a:extLst>
                    <a:ext uri="{9D8B030D-6E8A-4147-A177-3AD203B41FA5}">
                      <a16:colId xmlns:a16="http://schemas.microsoft.com/office/drawing/2014/main" val="2873768228"/>
                    </a:ext>
                  </a:extLst>
                </a:gridCol>
                <a:gridCol w="3340410">
                  <a:extLst>
                    <a:ext uri="{9D8B030D-6E8A-4147-A177-3AD203B41FA5}">
                      <a16:colId xmlns:a16="http://schemas.microsoft.com/office/drawing/2014/main" val="3982654687"/>
                    </a:ext>
                  </a:extLst>
                </a:gridCol>
              </a:tblGrid>
              <a:tr h="462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Monthly Transaction Volume</a:t>
                      </a:r>
                      <a:endParaRPr lang="tr-TR" sz="11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5802981"/>
                  </a:ext>
                </a:extLst>
              </a:tr>
              <a:tr h="2557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Average Credit Limit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11111,11111</a:t>
                      </a: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5786085"/>
                  </a:ext>
                </a:extLst>
              </a:tr>
              <a:tr h="2557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 dirty="0" err="1">
                          <a:effectLst/>
                        </a:rPr>
                        <a:t>Credit</a:t>
                      </a:r>
                      <a:r>
                        <a:rPr lang="tr-TR" sz="1100" u="none" strike="noStrike" dirty="0">
                          <a:effectLst/>
                        </a:rPr>
                        <a:t> </a:t>
                      </a:r>
                      <a:r>
                        <a:rPr lang="tr-TR" sz="1100" u="none" strike="noStrike" dirty="0" err="1">
                          <a:effectLst/>
                        </a:rPr>
                        <a:t>Utilization</a:t>
                      </a:r>
                      <a:r>
                        <a:rPr lang="tr-TR" sz="1100" u="none" strike="noStrike" dirty="0">
                          <a:effectLst/>
                        </a:rPr>
                        <a:t> Rate</a:t>
                      </a: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 dirty="0">
                          <a:effectLst/>
                        </a:rPr>
                        <a:t>0,27</a:t>
                      </a: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0071911"/>
                  </a:ext>
                </a:extLst>
              </a:tr>
              <a:tr h="4629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100" u="none" strike="noStrike">
                          <a:effectLst/>
                        </a:rPr>
                        <a:t>Expected Monthly Transaction Volume</a:t>
                      </a:r>
                      <a:endParaRPr lang="tr-T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tr-TR" sz="1100" u="none" strike="noStrike" dirty="0">
                          <a:effectLst/>
                        </a:rPr>
                        <a:t>3000</a:t>
                      </a:r>
                      <a:endParaRPr lang="tr-T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4402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60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92CED-2C8F-7183-542A-D768F6DB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DA09C5-926D-6CB0-1CF0-BF9094AB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E56A59-30A9-4FB2-A450-6554A867F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3FDB08-2CBB-78AE-D602-D02062EA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C2314E6-7808-A24F-FD2E-DFA69D6D0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03B424-8DA9-9FE9-D62A-3BAB8BB52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54163D-53B0-18CC-16BD-6FDFA4ED0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9DC7B2C-CF1F-360A-F3FB-94F11F100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B95FC2C-CA63-FD05-5974-AEA978462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FEB2757-0263-91A0-0284-7B7CAFBBC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E670A1A-EBF0-83D1-92AC-834058A9B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3A1C96-1BD3-12A0-F106-CE0A3FBDC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224415-9788-C64A-FADF-5A1378EE0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864C0E-671E-0E8E-A3C0-27CE3E1D0E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548432-0E16-420E-BF52-486E02BB0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99FD2DA-35F8-A081-16FC-583598CDD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FCCEDB-51DC-9ED4-BE7F-1DE783F3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74A0F63-3BBC-BE75-1FFE-A4F0BA201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9ED6930-0A64-F1C5-38ED-78FE76B22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85E256A-C2E2-2994-BA83-B97D3817F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12E585A-68DC-3A8C-71A5-5D53796D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34FAD18-E3D7-040C-EBAF-148EF724B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B89475-D6A7-6364-2F1C-958DC4C55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5C86DE-5022-DC52-D145-CC94AC33B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70F29C5-C0BC-2E7B-5A22-6037DC54D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D137544-0582-853C-846A-8E74AC777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D95C9B2-2C05-3D3F-F20F-F931301D7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446D310-54FC-9D0A-840C-980ECBD22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A816581-253C-4A8A-4078-D4907A9BB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8BEB3EB-DC49-9AF0-84BC-10F9A74E0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1043588-906E-A9B7-DB43-F7135BD94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5C9D077-2F0C-EA15-7F3C-1E2AD22AF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A643D7A-38DD-19DC-269D-732C9AE72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037343A-57EE-9FE8-C97D-5080CC1CEB3D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What-If</a:t>
            </a:r>
            <a:r>
              <a:rPr lang="tr-TR" dirty="0">
                <a:solidFill>
                  <a:schemeClr val="bg1"/>
                </a:solidFill>
              </a:rPr>
              <a:t> Analysis: </a:t>
            </a:r>
            <a:r>
              <a:rPr lang="tr-TR" dirty="0" err="1">
                <a:solidFill>
                  <a:schemeClr val="bg1"/>
                </a:solidFill>
              </a:rPr>
              <a:t>Scenario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Matrix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14AF59-0853-D82D-0472-FD2CB95995EA}"/>
              </a:ext>
            </a:extLst>
          </p:cNvPr>
          <p:cNvSpPr txBox="1"/>
          <p:nvPr/>
        </p:nvSpPr>
        <p:spPr>
          <a:xfrm>
            <a:off x="2433180" y="3131034"/>
            <a:ext cx="6617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2D </a:t>
            </a:r>
            <a:r>
              <a:rPr lang="tr-TR" dirty="0" err="1">
                <a:solidFill>
                  <a:schemeClr val="bg1"/>
                </a:solidFill>
              </a:rPr>
              <a:t>Matrix</a:t>
            </a:r>
            <a:r>
              <a:rPr lang="tr-TR" dirty="0">
                <a:solidFill>
                  <a:schemeClr val="bg1"/>
                </a:solidFill>
              </a:rPr>
              <a:t> Architecture: Cross-</a:t>
            </a:r>
            <a:r>
              <a:rPr lang="tr-TR" dirty="0" err="1">
                <a:solidFill>
                  <a:schemeClr val="bg1"/>
                </a:solidFill>
              </a:rPr>
              <a:t>tabulated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prospective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credit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limits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against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diverse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utilization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rates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using</a:t>
            </a:r>
            <a:r>
              <a:rPr lang="tr-TR" dirty="0">
                <a:solidFill>
                  <a:schemeClr val="bg1"/>
                </a:solidFill>
              </a:rPr>
              <a:t> Data </a:t>
            </a:r>
            <a:r>
              <a:rPr lang="tr-TR" dirty="0" err="1">
                <a:solidFill>
                  <a:schemeClr val="bg1"/>
                </a:solidFill>
              </a:rPr>
              <a:t>Tables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Dynamic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Forecasting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Generated</a:t>
            </a:r>
            <a:r>
              <a:rPr lang="tr-TR" dirty="0">
                <a:solidFill>
                  <a:schemeClr val="bg1"/>
                </a:solidFill>
              </a:rPr>
              <a:t> multiple </a:t>
            </a:r>
            <a:r>
              <a:rPr lang="tr-TR" dirty="0" err="1">
                <a:solidFill>
                  <a:schemeClr val="bg1"/>
                </a:solidFill>
              </a:rPr>
              <a:t>potential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revenue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outcomes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instantaneously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without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altering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raw</a:t>
            </a:r>
            <a:r>
              <a:rPr lang="tr-TR" dirty="0">
                <a:solidFill>
                  <a:schemeClr val="bg1"/>
                </a:solidFill>
              </a:rPr>
              <a:t>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Risk/</a:t>
            </a:r>
            <a:r>
              <a:rPr lang="tr-TR" dirty="0" err="1">
                <a:solidFill>
                  <a:schemeClr val="bg1"/>
                </a:solidFill>
              </a:rPr>
              <a:t>Reward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Balance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Provided</a:t>
            </a:r>
            <a:r>
              <a:rPr lang="tr-TR" dirty="0">
                <a:solidFill>
                  <a:schemeClr val="bg1"/>
                </a:solidFill>
              </a:rPr>
              <a:t> a </a:t>
            </a:r>
            <a:r>
              <a:rPr lang="tr-TR" dirty="0" err="1">
                <a:solidFill>
                  <a:schemeClr val="bg1"/>
                </a:solidFill>
              </a:rPr>
              <a:t>clear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strategic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roadmap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limit </a:t>
            </a:r>
            <a:r>
              <a:rPr lang="tr-TR" dirty="0" err="1">
                <a:solidFill>
                  <a:schemeClr val="bg1"/>
                </a:solidFill>
              </a:rPr>
              <a:t>enhancement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campaigns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49FDE1-C4D2-6A57-C321-6858B84AC12D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Pivot_Analiz!$J$7:$N$12" spid="_x0000_s1054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2871" y="683582"/>
            <a:ext cx="6518057" cy="188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70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DB663-F049-FC1B-1FFF-2B70AD4A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06E75AC-3345-6615-D3B9-C570C0B27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CA1D5E-B28E-8963-4A8D-763500BE2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5D46E8-3816-CD2A-687D-F1140F8F9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BB65E5-F784-65DC-CF05-720B37772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51FE2EA-C5C7-51E9-2952-09F08546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1D1925-BA54-C52A-8E73-AE1511ABB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EE713ED-C896-E0FE-61DB-872E2EEF5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4EC7E2-E882-8C52-57DA-C77C62B41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BA9CF20-7C50-B98F-A459-8228AA44D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A7A1986-EA8F-F6E5-9B0A-457B7C317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0E50B7-9B28-F9BA-516F-8FC040B6C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F127437-F8B0-E9FB-061D-ED138F8B7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27E2AD-203E-0D25-0CFE-A0AE9514A2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59E6A08-0719-67E3-8C20-7C0555BD1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2306D5A-C5DC-F668-424D-0EE37EE68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32297C-2538-9DD0-D161-06A31D5BB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B87C43-8F2A-629B-E502-4C8615ADA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56A48AC-EEE7-DECA-0B4B-12866E5C2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FE09C36-B3AD-90DD-A8A9-D32739BDD0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74C72F2-E26B-F232-CBB0-F414498B1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965E7BB5-0E58-D408-2718-347F37BE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29FEDB9-717D-2082-CFEF-2C88BC63B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E0C65DA-7B88-9AD7-C3D8-F5BA82ED8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2DD04F4-C354-F93B-C44F-BFB9EE098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002976A-862E-E7E1-E779-4201BC18A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D94104-38B9-33DB-0B0A-3712FFADF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C4AC37A-0BDA-0B16-8DEB-C0F6F750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 dirty="0">
              <a:solidFill>
                <a:schemeClr val="bg1"/>
              </a:solidFill>
            </a:endParaRPr>
          </a:p>
          <a:p>
            <a:pPr algn="l"/>
            <a:endParaRPr lang="tr-TR" dirty="0">
              <a:solidFill>
                <a:schemeClr val="bg1"/>
              </a:solidFill>
            </a:endParaRPr>
          </a:p>
          <a:p>
            <a:pPr algn="l"/>
            <a:endParaRPr lang="tr-TR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6A3D483-F2FD-D1CC-6B6C-EC6526E18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3CDA7E4-412E-67B7-1019-1FE3BE0A7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B30E417-8B9E-C53B-27A6-F83BEFBD5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CF92A1D-7539-0BB0-C94B-9722ACCFF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B342811-B1FB-2E66-21AB-A241DB6C8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EE3D306-BCD7-658A-11FD-3529CACE4231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System</a:t>
            </a:r>
            <a:r>
              <a:rPr lang="tr-TR" dirty="0">
                <a:solidFill>
                  <a:schemeClr val="bg1"/>
                </a:solidFill>
              </a:rPr>
              <a:t> Architecture &amp; VBA </a:t>
            </a:r>
            <a:r>
              <a:rPr lang="tr-TR" dirty="0" err="1">
                <a:solidFill>
                  <a:schemeClr val="bg1"/>
                </a:solidFill>
              </a:rPr>
              <a:t>Automation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4CBD33-5BBF-370E-263A-977FE12CF517}"/>
              </a:ext>
            </a:extLst>
          </p:cNvPr>
          <p:cNvSpPr txBox="1"/>
          <p:nvPr/>
        </p:nvSpPr>
        <p:spPr>
          <a:xfrm>
            <a:off x="1409544" y="1723079"/>
            <a:ext cx="50923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One-Click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Refresh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Implemented</a:t>
            </a:r>
            <a:r>
              <a:rPr lang="tr-TR" dirty="0">
                <a:solidFill>
                  <a:schemeClr val="bg1"/>
                </a:solidFill>
              </a:rPr>
              <a:t> VBA </a:t>
            </a:r>
            <a:r>
              <a:rPr lang="tr-TR" dirty="0" err="1">
                <a:solidFill>
                  <a:schemeClr val="bg1"/>
                </a:solidFill>
              </a:rPr>
              <a:t>macro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scripting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automated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end-to-end</a:t>
            </a:r>
            <a:r>
              <a:rPr lang="tr-TR" dirty="0">
                <a:solidFill>
                  <a:schemeClr val="bg1"/>
                </a:solidFill>
              </a:rPr>
              <a:t> data </a:t>
            </a:r>
            <a:r>
              <a:rPr lang="tr-TR" dirty="0" err="1">
                <a:solidFill>
                  <a:schemeClr val="bg1"/>
                </a:solidFill>
              </a:rPr>
              <a:t>pipeline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updates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Dynamic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Interactivity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Integrated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Slicers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offset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parameters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real</a:t>
            </a:r>
            <a:r>
              <a:rPr lang="tr-TR" dirty="0">
                <a:solidFill>
                  <a:schemeClr val="bg1"/>
                </a:solidFill>
              </a:rPr>
              <a:t>-time </a:t>
            </a:r>
            <a:r>
              <a:rPr lang="tr-TR" dirty="0" err="1">
                <a:solidFill>
                  <a:schemeClr val="bg1"/>
                </a:solidFill>
              </a:rPr>
              <a:t>dashboard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filtering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Form </a:t>
            </a:r>
            <a:r>
              <a:rPr lang="tr-TR" dirty="0" err="1">
                <a:solidFill>
                  <a:schemeClr val="bg1"/>
                </a:solidFill>
              </a:rPr>
              <a:t>Controls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 err="1">
                <a:solidFill>
                  <a:schemeClr val="bg1"/>
                </a:solidFill>
              </a:rPr>
              <a:t>Engineered</a:t>
            </a:r>
            <a:r>
              <a:rPr lang="tr-TR" dirty="0">
                <a:solidFill>
                  <a:schemeClr val="bg1"/>
                </a:solidFill>
              </a:rPr>
              <a:t> an </a:t>
            </a:r>
            <a:r>
              <a:rPr lang="tr-TR" dirty="0" err="1">
                <a:solidFill>
                  <a:schemeClr val="bg1"/>
                </a:solidFill>
              </a:rPr>
              <a:t>interactive</a:t>
            </a:r>
            <a:r>
              <a:rPr lang="tr-TR" dirty="0">
                <a:solidFill>
                  <a:schemeClr val="bg1"/>
                </a:solidFill>
              </a:rPr>
              <a:t> risk-premium </a:t>
            </a:r>
            <a:r>
              <a:rPr lang="tr-TR" dirty="0" err="1">
                <a:solidFill>
                  <a:schemeClr val="bg1"/>
                </a:solidFill>
              </a:rPr>
              <a:t>toggle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using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Checkbox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dynamic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arrays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227FF2-746C-509B-6161-EC4CEFF57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9159" y="2048200"/>
            <a:ext cx="4638675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F10787-903A-23F4-E757-D7CAE6614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968" y="3793495"/>
            <a:ext cx="2163722" cy="71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9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7D2AB-9E76-F024-2970-49E391A4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F36B5B2-DA70-7ECC-2893-29E0DE609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4F6252-F607-5077-63B4-555D81235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90E3BC-9512-0FE2-0BC1-18592D4D7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9F97B7C-75BC-8B5C-1453-6931CE72F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D9CA3C-4DCD-737A-83D9-BC9C2E1D6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BC25AB7-28FF-A43B-E2C7-63B6713E2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749EB0-1650-3397-3D81-7BD0E1B37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189D6C-7982-AE9D-8597-6E8FF53FF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84B5D4F-660B-7A49-CF8E-BE7CDC452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4BCE5B3-E099-51D5-70AD-2F10CC53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91CF3A1-8E5D-9C82-D01F-53E7E05EF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BB5369D-21CD-D13C-E077-8BF9EEDFE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7B4BDF2-F0AB-2704-CCAA-A965DDBD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B76A9D5-574A-9F82-C95E-ED59D9E13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1235408-2CEA-17F4-F387-CC6F8C87F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C12EEE-1E45-BF2F-5F45-9B54DF77F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2404BB4-9F05-B033-0138-11E4DA073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93D198F-9F98-27C1-57D0-C7652DB76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90E4260-1DD9-CA24-B6E8-65D0E1780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3E429E-45B0-5F41-48F5-212B0BA7F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ADD85D46-C17A-E887-19D9-44A1CE30F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FDAD33-D529-C011-96D7-C9F280FB0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6A2BA0-7CC8-2970-F28E-679AE33AE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81C32C9-0340-8DB3-9A88-4BA32AAA4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6F52A50-5ECB-3B58-52ED-C7F4C2CC0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7D63C4D-FC2E-CEE9-22F4-E038993F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73A91FE-0A66-E0C0-A035-1EFD8D430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3209140-C231-83CC-44E0-560A95C14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B4C4EC6-5226-9826-C70C-D6F89616A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6447386-1D72-B5B0-21DB-DAA54D3E0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698E39E-CFFE-3657-FBD6-283A03079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7BAEAB4-3B20-EB6D-D3AC-AE3090C8B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18BD51D-746A-A25C-3995-91F3161B7CFF}"/>
              </a:ext>
            </a:extLst>
          </p:cNvPr>
          <p:cNvSpPr txBox="1"/>
          <p:nvPr/>
        </p:nvSpPr>
        <p:spPr>
          <a:xfrm>
            <a:off x="7538662" y="6217125"/>
            <a:ext cx="464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Strategy</a:t>
            </a:r>
            <a:r>
              <a:rPr lang="tr-TR" dirty="0">
                <a:solidFill>
                  <a:schemeClr val="bg1"/>
                </a:solidFill>
              </a:rPr>
              <a:t> 1: VIP </a:t>
            </a:r>
            <a:r>
              <a:rPr lang="tr-TR" dirty="0" err="1">
                <a:solidFill>
                  <a:schemeClr val="bg1"/>
                </a:solidFill>
              </a:rPr>
              <a:t>Retention</a:t>
            </a:r>
            <a:r>
              <a:rPr lang="tr-TR" dirty="0">
                <a:solidFill>
                  <a:schemeClr val="bg1"/>
                </a:solidFill>
              </a:rPr>
              <a:t> &amp; </a:t>
            </a:r>
            <a:r>
              <a:rPr lang="tr-TR" dirty="0" err="1">
                <a:solidFill>
                  <a:schemeClr val="bg1"/>
                </a:solidFill>
              </a:rPr>
              <a:t>Loyalty</a:t>
            </a:r>
            <a:r>
              <a:rPr lang="tr-TR" dirty="0">
                <a:solidFill>
                  <a:schemeClr val="bg1"/>
                </a:solidFill>
              </a:rPr>
              <a:t> Program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9F8350-6F5C-EB47-7A6E-69E658CD4EAE}"/>
              </a:ext>
            </a:extLst>
          </p:cNvPr>
          <p:cNvSpPr txBox="1"/>
          <p:nvPr/>
        </p:nvSpPr>
        <p:spPr>
          <a:xfrm>
            <a:off x="5315553" y="2376712"/>
            <a:ext cx="6617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Pareto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analysis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shows</a:t>
            </a:r>
            <a:r>
              <a:rPr lang="tr-TR" dirty="0">
                <a:solidFill>
                  <a:schemeClr val="bg1"/>
                </a:solidFill>
              </a:rPr>
              <a:t> a </a:t>
            </a:r>
            <a:r>
              <a:rPr lang="tr-TR" dirty="0" err="1">
                <a:solidFill>
                  <a:schemeClr val="bg1"/>
                </a:solidFill>
              </a:rPr>
              <a:t>massive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dependency</a:t>
            </a:r>
            <a:r>
              <a:rPr lang="tr-TR" dirty="0">
                <a:solidFill>
                  <a:schemeClr val="bg1"/>
                </a:solidFill>
              </a:rPr>
              <a:t> on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Top 20% </a:t>
            </a:r>
            <a:r>
              <a:rPr lang="tr-TR" dirty="0" err="1">
                <a:solidFill>
                  <a:schemeClr val="bg1"/>
                </a:solidFill>
              </a:rPr>
              <a:t>cardholder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tier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Launch</a:t>
            </a:r>
            <a:r>
              <a:rPr lang="tr-TR" dirty="0">
                <a:solidFill>
                  <a:schemeClr val="bg1"/>
                </a:solidFill>
              </a:rPr>
              <a:t> a "Premium </a:t>
            </a:r>
            <a:r>
              <a:rPr lang="tr-TR" dirty="0" err="1">
                <a:solidFill>
                  <a:schemeClr val="bg1"/>
                </a:solidFill>
              </a:rPr>
              <a:t>Concierge</a:t>
            </a:r>
            <a:r>
              <a:rPr lang="tr-TR" dirty="0">
                <a:solidFill>
                  <a:schemeClr val="bg1"/>
                </a:solidFill>
              </a:rPr>
              <a:t>" program </a:t>
            </a:r>
            <a:r>
              <a:rPr lang="tr-TR" dirty="0" err="1">
                <a:solidFill>
                  <a:schemeClr val="bg1"/>
                </a:solidFill>
              </a:rPr>
              <a:t>with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zero-fee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transactions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high-volume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users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Securing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core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revenue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stream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increasing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lifetime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value</a:t>
            </a:r>
            <a:r>
              <a:rPr lang="tr-TR" dirty="0">
                <a:solidFill>
                  <a:schemeClr val="bg1"/>
                </a:solidFill>
              </a:rPr>
              <a:t> (LTV) </a:t>
            </a:r>
            <a:r>
              <a:rPr lang="tr-TR" dirty="0" err="1">
                <a:solidFill>
                  <a:schemeClr val="bg1"/>
                </a:solidFill>
              </a:rPr>
              <a:t>by</a:t>
            </a:r>
            <a:r>
              <a:rPr lang="tr-TR" dirty="0">
                <a:solidFill>
                  <a:schemeClr val="bg1"/>
                </a:solidFill>
              </a:rPr>
              <a:t> 15%.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F01B9-3AC9-64BB-40C2-86B291A27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183" y="1754175"/>
            <a:ext cx="1821472" cy="2439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90E5F8-6710-87CD-DB43-7A06BCFA1433}"/>
              </a:ext>
            </a:extLst>
          </p:cNvPr>
          <p:cNvSpPr txBox="1"/>
          <p:nvPr/>
        </p:nvSpPr>
        <p:spPr>
          <a:xfrm>
            <a:off x="1469816" y="3923503"/>
            <a:ext cx="39007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600" dirty="0">
                <a:solidFill>
                  <a:srgbClr val="86662D"/>
                </a:solidFill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%20</a:t>
            </a:r>
          </a:p>
        </p:txBody>
      </p:sp>
    </p:spTree>
    <p:extLst>
      <p:ext uri="{BB962C8B-B14F-4D97-AF65-F5344CB8AC3E}">
        <p14:creationId xmlns:p14="http://schemas.microsoft.com/office/powerpoint/2010/main" val="368442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2D362-A513-47E2-9712-F9C21B0A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24D9247-F561-A461-6316-433FEA43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9130E6-4F9A-2DF8-9527-97840F303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373AF0-2766-E4AA-ACD9-CB99826A2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72C90C-30F2-D393-3694-A21273ABD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01D5504-96BA-E11E-A6F8-57B6F87F6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738421-9963-C1BC-5765-2FF5FC800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CC40C6B-3CB9-5C13-AD6A-2BC8D6B12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E28504C-CEE4-1AC9-95B1-00921F97F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E55FF3A-71CB-78AA-8D82-76D8CCCB3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D637893-64B2-99C9-77BC-7C99FDFC3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0F1667-E27D-A935-91E7-4D585F70C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390B3C0-41DE-A5A3-96E5-DACB1AC8A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892589D-0940-E38F-80C0-E6E06E6FE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A0C89BA-39EE-2676-4C40-358CB59A2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2AE5A5-F99F-0970-CE95-2EB501B75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CA05FC-5F7F-BC74-B110-139DEFD90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804A8C6-66E4-41B4-D4CF-AF5E73244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3F8BC4-5D37-9CC7-1DA5-F6DCEBB96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BEDE24B-ADD9-DBD8-609B-27901226B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2DC06CF-E9C2-A382-1397-07D79A8EA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8E588A5-9AD0-ED10-318A-C1E09E4FF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1EF476-185B-626D-C3E6-7A415760F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5AF5BB2-4ABA-0DF5-CBC1-A8AA64F08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7F1407D-BE2F-7339-3910-98A71E246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E6B9BED-C559-9CF8-EEFB-161E5A597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C32E4ED-899A-7532-8963-4425D1BEB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8679DC7-12F3-7452-2776-E5ACD1844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4A1571-5147-E44B-47DF-E0A5AFB1C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79A9C62-5B24-DC13-3DD6-F9D4894C0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8D1F307-56E8-26EB-C557-095015D28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4EA10C-90F5-0C17-5421-D5EE0F928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577B0B8-0FC8-0357-5AD3-83C06E179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06C1B6D-D39F-7337-D401-9CC701A0DDFB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Strategy</a:t>
            </a:r>
            <a:r>
              <a:rPr lang="tr-TR" dirty="0">
                <a:solidFill>
                  <a:schemeClr val="bg1"/>
                </a:solidFill>
              </a:rPr>
              <a:t> 2: </a:t>
            </a:r>
            <a:r>
              <a:rPr lang="tr-TR" dirty="0" err="1">
                <a:solidFill>
                  <a:schemeClr val="bg1"/>
                </a:solidFill>
              </a:rPr>
              <a:t>Proactive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Churn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Prevention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C367F6-4813-CD0D-7CC1-AE1980B3E91B}"/>
              </a:ext>
            </a:extLst>
          </p:cNvPr>
          <p:cNvSpPr txBox="1"/>
          <p:nvPr/>
        </p:nvSpPr>
        <p:spPr>
          <a:xfrm>
            <a:off x="608494" y="2064639"/>
            <a:ext cx="66174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High </a:t>
            </a:r>
            <a:r>
              <a:rPr lang="tr-TR" dirty="0" err="1">
                <a:solidFill>
                  <a:schemeClr val="bg1"/>
                </a:solidFill>
              </a:rPr>
              <a:t>attrition</a:t>
            </a:r>
            <a:r>
              <a:rPr lang="tr-TR" dirty="0">
                <a:solidFill>
                  <a:schemeClr val="bg1"/>
                </a:solidFill>
              </a:rPr>
              <a:t> rate </a:t>
            </a:r>
            <a:r>
              <a:rPr lang="tr-TR" dirty="0" err="1">
                <a:solidFill>
                  <a:schemeClr val="bg1"/>
                </a:solidFill>
              </a:rPr>
              <a:t>detected</a:t>
            </a:r>
            <a:r>
              <a:rPr lang="tr-TR" dirty="0">
                <a:solidFill>
                  <a:schemeClr val="bg1"/>
                </a:solidFill>
              </a:rPr>
              <a:t> in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36-45 </a:t>
            </a:r>
            <a:r>
              <a:rPr lang="tr-TR" dirty="0" err="1">
                <a:solidFill>
                  <a:schemeClr val="bg1"/>
                </a:solidFill>
              </a:rPr>
              <a:t>age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group</a:t>
            </a:r>
            <a:r>
              <a:rPr lang="tr-TR" dirty="0">
                <a:solidFill>
                  <a:schemeClr val="bg1"/>
                </a:solidFill>
              </a:rPr>
              <a:t> (</a:t>
            </a:r>
            <a:r>
              <a:rPr lang="tr-TR" dirty="0" err="1">
                <a:solidFill>
                  <a:schemeClr val="bg1"/>
                </a:solidFill>
              </a:rPr>
              <a:t>mid-tenure</a:t>
            </a:r>
            <a:r>
              <a:rPr lang="tr-TR" dirty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Deploy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automated</a:t>
            </a:r>
            <a:r>
              <a:rPr lang="tr-TR" dirty="0">
                <a:solidFill>
                  <a:schemeClr val="bg1"/>
                </a:solidFill>
              </a:rPr>
              <a:t> "</a:t>
            </a:r>
            <a:r>
              <a:rPr lang="tr-TR" dirty="0" err="1">
                <a:solidFill>
                  <a:schemeClr val="bg1"/>
                </a:solidFill>
              </a:rPr>
              <a:t>We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Miss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You</a:t>
            </a:r>
            <a:r>
              <a:rPr lang="tr-TR" dirty="0">
                <a:solidFill>
                  <a:schemeClr val="bg1"/>
                </a:solidFill>
              </a:rPr>
              <a:t>" </a:t>
            </a:r>
            <a:r>
              <a:rPr lang="tr-TR" dirty="0" err="1">
                <a:solidFill>
                  <a:schemeClr val="bg1"/>
                </a:solidFill>
              </a:rPr>
              <a:t>email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sequences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temporary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cashback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incentives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inactive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segments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Reduce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monthly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churn</a:t>
            </a:r>
            <a:r>
              <a:rPr lang="tr-TR" dirty="0">
                <a:solidFill>
                  <a:schemeClr val="bg1"/>
                </a:solidFill>
              </a:rPr>
              <a:t> rate </a:t>
            </a:r>
            <a:r>
              <a:rPr lang="tr-TR" dirty="0" err="1">
                <a:solidFill>
                  <a:schemeClr val="bg1"/>
                </a:solidFill>
              </a:rPr>
              <a:t>by</a:t>
            </a:r>
            <a:r>
              <a:rPr lang="tr-TR" dirty="0">
                <a:solidFill>
                  <a:schemeClr val="bg1"/>
                </a:solidFill>
              </a:rPr>
              <a:t> 4% </a:t>
            </a:r>
            <a:r>
              <a:rPr lang="tr-TR" dirty="0" err="1">
                <a:solidFill>
                  <a:schemeClr val="bg1"/>
                </a:solidFill>
              </a:rPr>
              <a:t>within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first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quarter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9F82E-17F4-1A49-2DA3-1D4DFC593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06" y="1030819"/>
            <a:ext cx="459303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5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A1D64-D22C-C5AD-6B0A-5B2E133F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B36C104-BFC5-7670-AA0C-AB7769464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5976B-1CED-6D39-5F64-0435A5FF7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EB8139-E94F-6B43-C6CB-43CD02492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B0D7C6E-685E-F90F-9BE9-2ADB2D185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210B9CF-58EA-0BE8-7688-47F4EE684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D5620B5-A628-8840-3BAA-223EB5742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3A6E635-0D25-7EA0-CEE0-833883C4A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D530943-F45E-26A0-B174-6299F230E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B79CEEB-B5A3-C18B-14AF-557B70441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955AEED-178C-E447-DA5D-FDCEBA33E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3F5145-657A-9F0E-3A7A-716901F8C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8696EB-B02E-C21F-22D9-9FDEF393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3E9B2B3-A423-CCB8-33B1-D78D5C7AB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9185EDD-0187-C370-ADFC-5187770DA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2ADAA68-DC0E-D681-7C07-F6A0D44F7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397B36-29FE-6685-A855-A8A74CFBE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AA7457-3854-B721-0906-8163A5391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F18EE56-6D3E-662A-F2E7-077F9B64C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4A40222-F28E-6AFA-D065-C0F0B0024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A5BBB39-D489-D931-8BDC-26AE636A5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7CCB10FE-1170-6DD1-41FE-470D101A4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9C4FAB-29E8-989E-C074-EFAC6BC7B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D453050-4421-E903-FA31-738D28C0D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47A55CA-465B-090D-7C04-54DCD4F36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6A33500-D342-5969-7916-8268FA2F3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3C8D7A8-B930-8676-32D9-232B0CD0B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724E701C-23AE-992B-5A39-D44BB1F35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  <a:p>
            <a:pPr algn="l"/>
            <a:endParaRPr lang="tr-TR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152D328-7694-4A3F-367D-0FA73C12D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3023552-9283-2A16-4446-517E7F2AB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E8186C2-4A19-B89A-10F3-4905BA25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1B74BB5-0744-6B95-6DE9-168DED22B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08804AD-C959-4A0B-B66C-5C0C7EDE0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B264705-EDDB-44A2-181F-F658A5745353}"/>
              </a:ext>
            </a:extLst>
          </p:cNvPr>
          <p:cNvSpPr txBox="1"/>
          <p:nvPr/>
        </p:nvSpPr>
        <p:spPr>
          <a:xfrm>
            <a:off x="7815970" y="6217125"/>
            <a:ext cx="436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Strategy</a:t>
            </a:r>
            <a:r>
              <a:rPr lang="tr-TR" dirty="0">
                <a:solidFill>
                  <a:schemeClr val="bg1"/>
                </a:solidFill>
              </a:rPr>
              <a:t> 3: </a:t>
            </a:r>
            <a:r>
              <a:rPr lang="tr-TR" dirty="0" err="1">
                <a:solidFill>
                  <a:schemeClr val="bg1"/>
                </a:solidFill>
              </a:rPr>
              <a:t>Credit</a:t>
            </a:r>
            <a:r>
              <a:rPr lang="tr-TR" dirty="0">
                <a:solidFill>
                  <a:schemeClr val="bg1"/>
                </a:solidFill>
              </a:rPr>
              <a:t> Limit </a:t>
            </a:r>
            <a:r>
              <a:rPr lang="tr-TR" dirty="0" err="1">
                <a:solidFill>
                  <a:schemeClr val="bg1"/>
                </a:solidFill>
              </a:rPr>
              <a:t>Optimization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BE2FB0-77BF-1948-3CB3-1509C2A9A979}"/>
              </a:ext>
            </a:extLst>
          </p:cNvPr>
          <p:cNvSpPr txBox="1"/>
          <p:nvPr/>
        </p:nvSpPr>
        <p:spPr>
          <a:xfrm>
            <a:off x="550991" y="2107090"/>
            <a:ext cx="6617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Underutilized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credit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limits</a:t>
            </a:r>
            <a:r>
              <a:rPr lang="tr-TR" dirty="0">
                <a:solidFill>
                  <a:schemeClr val="bg1"/>
                </a:solidFill>
              </a:rPr>
              <a:t> in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"</a:t>
            </a:r>
            <a:r>
              <a:rPr lang="tr-TR" dirty="0" err="1">
                <a:solidFill>
                  <a:schemeClr val="bg1"/>
                </a:solidFill>
              </a:rPr>
              <a:t>Potential</a:t>
            </a:r>
            <a:r>
              <a:rPr lang="tr-TR" dirty="0">
                <a:solidFill>
                  <a:schemeClr val="bg1"/>
                </a:solidFill>
              </a:rPr>
              <a:t>" segment </a:t>
            </a:r>
            <a:r>
              <a:rPr lang="tr-TR" dirty="0" err="1">
                <a:solidFill>
                  <a:schemeClr val="bg1"/>
                </a:solidFill>
              </a:rPr>
              <a:t>are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bottlenecking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transaction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volume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Gradually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increase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average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credit</a:t>
            </a:r>
            <a:r>
              <a:rPr lang="tr-TR" dirty="0">
                <a:solidFill>
                  <a:schemeClr val="bg1"/>
                </a:solidFill>
              </a:rPr>
              <a:t> limit </a:t>
            </a:r>
            <a:r>
              <a:rPr lang="tr-TR" dirty="0" err="1">
                <a:solidFill>
                  <a:schemeClr val="bg1"/>
                </a:solidFill>
              </a:rPr>
              <a:t>to</a:t>
            </a:r>
            <a:r>
              <a:rPr lang="tr-TR" dirty="0">
                <a:solidFill>
                  <a:schemeClr val="bg1"/>
                </a:solidFill>
              </a:rPr>
              <a:t> $11,111 </a:t>
            </a:r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targeted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low</a:t>
            </a:r>
            <a:r>
              <a:rPr lang="tr-TR" dirty="0">
                <a:solidFill>
                  <a:schemeClr val="bg1"/>
                </a:solidFill>
              </a:rPr>
              <a:t>-risk </a:t>
            </a:r>
            <a:r>
              <a:rPr lang="tr-TR" dirty="0" err="1">
                <a:solidFill>
                  <a:schemeClr val="bg1"/>
                </a:solidFill>
              </a:rPr>
              <a:t>profiles</a:t>
            </a:r>
            <a:r>
              <a:rPr lang="tr-TR" dirty="0">
                <a:solidFill>
                  <a:schemeClr val="bg1"/>
                </a:solidFill>
              </a:rPr>
              <a:t>, as </a:t>
            </a:r>
            <a:r>
              <a:rPr lang="tr-TR" dirty="0" err="1">
                <a:solidFill>
                  <a:schemeClr val="bg1"/>
                </a:solidFill>
              </a:rPr>
              <a:t>simulated</a:t>
            </a:r>
            <a:r>
              <a:rPr lang="tr-TR" dirty="0">
                <a:solidFill>
                  <a:schemeClr val="bg1"/>
                </a:solidFill>
              </a:rPr>
              <a:t> in </a:t>
            </a:r>
            <a:r>
              <a:rPr lang="tr-TR" dirty="0" err="1">
                <a:solidFill>
                  <a:schemeClr val="bg1"/>
                </a:solidFill>
              </a:rPr>
              <a:t>Goal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Seek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chemeClr val="bg1"/>
                </a:solidFill>
              </a:rPr>
              <a:t>Achieve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the</a:t>
            </a:r>
            <a:r>
              <a:rPr lang="tr-TR" dirty="0">
                <a:solidFill>
                  <a:schemeClr val="bg1"/>
                </a:solidFill>
              </a:rPr>
              <a:t> $3,000 </a:t>
            </a:r>
            <a:r>
              <a:rPr lang="tr-TR" dirty="0" err="1">
                <a:solidFill>
                  <a:schemeClr val="bg1"/>
                </a:solidFill>
              </a:rPr>
              <a:t>baseline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transaction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volume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goal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and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boost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interest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revenue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795D8-3307-1094-D9F7-51DE205AC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593" y="449657"/>
            <a:ext cx="569595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8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596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Agency FB</vt:lpstr>
      <vt:lpstr>Aptos</vt:lpstr>
      <vt:lpstr>Aptos Display</vt:lpstr>
      <vt:lpstr>Arial</vt:lpstr>
      <vt:lpstr>Calibri</vt:lpstr>
      <vt:lpstr>Times New Roman</vt:lpstr>
      <vt:lpstr>Office Theme</vt:lpstr>
      <vt:lpstr>Credit Card Customer Analytics &amp; Strategic Growth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Burak Canlı</dc:creator>
  <cp:lastModifiedBy>Burak Canlı</cp:lastModifiedBy>
  <cp:revision>3</cp:revision>
  <dcterms:created xsi:type="dcterms:W3CDTF">2026-08-01T16:19:47Z</dcterms:created>
  <dcterms:modified xsi:type="dcterms:W3CDTF">2026-08-01T22:41:49Z</dcterms:modified>
</cp:coreProperties>
</file>